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core promise: VisionKnob makes image understanding physical and immediate. The user selects an image with a knob and submits a question with a button; the answer is generated locally rather than sent to a cloud service.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as interaction friction, not a lack of model capability. Vision models can answer questions, but the path from a physical image library to a grounded answer is still awkward.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interaction in three beats. The browser remains useful for typing and seeing the answer, while the Arduino controller removes the need to reach for the mouse or keyboard during selection and submission.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 hardware emits JSON events over USB serial. Streamlit owns the interaction state and attaches the selected image to the request. GenieX serves the cached Gemma VLM locally. Status commands return to the Pixels module for immediate feedback.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live demo slide. Demonstrate the knob changing the selected image, type a short question, press Button A, and point to the Pixel status feedback while the local model processes the request.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important differentiator is not merely that the model is local. The full interaction is local: image storage, retrieval, inference, and physical feedback all happen without sending the image to a hosted vision API.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each physical component to a user outcome. Button C is intentionally open for a future action such as clearing the conversation, toggling retrieval mode, or returning to the first image.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invitation: try the loop. The prototype already proves the interaction. The next step is expanding the control vocabulary, especially assigning Button C to a high-value workflow action and refining feedback for hands-busy use cases.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1320"/>
        </a:solidFill>
        <a:effectLst/>
      </p:bgPr>
    </p:bg>
    <p:spTree>
      <p:nvGrpSpPr>
        <p:cNvPr id="1" name=""/>
        <p:cNvGrpSpPr/>
        <p:nvPr/>
      </p:nvGrpSpPr>
      <p:grpSpPr/>
      <p:sp>
        <p:nvSpPr>
          <p:cNvPr id="2" name="Rectangle 1"/>
          <p:cNvSpPr/>
          <p:nvPr/>
        </p:nvSpPr>
        <p:spPr>
          <a:xfrm>
            <a:off x="7452360" y="0"/>
            <a:ext cx="4736592" cy="6858000"/>
          </a:xfrm>
          <a:prstGeom prst="rect">
            <a:avLst/>
          </a:prstGeom>
          <a:solidFill>
            <a:srgbClr val="141F2B"/>
          </a:solidFill>
          <a:ln>
            <a:solidFill>
              <a:srgbClr val="141F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unflower-pacquito-colorado.jpg"/>
          <p:cNvPicPr>
            <a:picLocks noChangeAspect="1"/>
          </p:cNvPicPr>
          <p:nvPr/>
        </p:nvPicPr>
        <p:blipFill>
          <a:blip r:embed="rId2"/>
          <a:stretch>
            <a:fillRect/>
          </a:stretch>
        </p:blipFill>
        <p:spPr>
          <a:xfrm>
            <a:off x="7818120" y="502920"/>
            <a:ext cx="3611880" cy="2148840"/>
          </a:xfrm>
          <a:prstGeom prst="rect">
            <a:avLst/>
          </a:prstGeom>
        </p:spPr>
      </p:pic>
      <p:pic>
        <p:nvPicPr>
          <p:cNvPr id="4" name="Picture 3" descr="Moeraki-Boulders-New-Zealand.jpg"/>
          <p:cNvPicPr>
            <a:picLocks noChangeAspect="1"/>
          </p:cNvPicPr>
          <p:nvPr/>
        </p:nvPicPr>
        <p:blipFill>
          <a:blip r:embed="rId3"/>
          <a:stretch>
            <a:fillRect/>
          </a:stretch>
        </p:blipFill>
        <p:spPr>
          <a:xfrm>
            <a:off x="7818120" y="2788920"/>
            <a:ext cx="3611880" cy="3063240"/>
          </a:xfrm>
          <a:prstGeom prst="rect">
            <a:avLst/>
          </a:prstGeom>
        </p:spPr>
      </p:pic>
      <p:sp>
        <p:nvSpPr>
          <p:cNvPr id="5" name="TextBox 4"/>
          <p:cNvSpPr txBox="1"/>
          <p:nvPr/>
        </p:nvSpPr>
        <p:spPr>
          <a:xfrm>
            <a:off x="658368" y="658368"/>
            <a:ext cx="5943600" cy="457200"/>
          </a:xfrm>
          <a:prstGeom prst="rect">
            <a:avLst/>
          </a:prstGeom>
          <a:noFill/>
        </p:spPr>
        <p:txBody>
          <a:bodyPr wrap="square" lIns="27432" rIns="27432" anchor="ctr">
            <a:spAutoFit/>
          </a:bodyPr>
          <a:lstStyle/>
          <a:p>
            <a:pPr algn="l"/>
            <a:r>
              <a:rPr sz="1500" b="1">
                <a:solidFill>
                  <a:srgbClr val="47D3CA"/>
                </a:solidFill>
                <a:latin typeface="Aptos"/>
              </a:rPr>
              <a:t>VISIONKNOB</a:t>
            </a:r>
          </a:p>
        </p:txBody>
      </p:sp>
      <p:sp>
        <p:nvSpPr>
          <p:cNvPr id="6" name="TextBox 5"/>
          <p:cNvSpPr txBox="1"/>
          <p:nvPr/>
        </p:nvSpPr>
        <p:spPr>
          <a:xfrm>
            <a:off x="640080" y="1417320"/>
            <a:ext cx="6309360" cy="2148840"/>
          </a:xfrm>
          <a:prstGeom prst="rect">
            <a:avLst/>
          </a:prstGeom>
          <a:noFill/>
        </p:spPr>
        <p:txBody>
          <a:bodyPr wrap="square" lIns="27432" rIns="27432" anchor="ctr">
            <a:spAutoFit/>
          </a:bodyPr>
          <a:lstStyle/>
          <a:p>
            <a:pPr algn="l"/>
            <a:r>
              <a:rPr sz="3400" b="1">
                <a:solidFill>
                  <a:srgbClr val="F4F7F2"/>
                </a:solidFill>
                <a:latin typeface="Aptos"/>
              </a:rPr>
              <a:t>Ask images
without losing
your hands.</a:t>
            </a:r>
          </a:p>
        </p:txBody>
      </p:sp>
      <p:sp>
        <p:nvSpPr>
          <p:cNvPr id="7" name="TextBox 6"/>
          <p:cNvSpPr txBox="1"/>
          <p:nvPr/>
        </p:nvSpPr>
        <p:spPr>
          <a:xfrm>
            <a:off x="685800" y="3977639"/>
            <a:ext cx="5852160" cy="777240"/>
          </a:xfrm>
          <a:prstGeom prst="rect">
            <a:avLst/>
          </a:prstGeom>
          <a:noFill/>
        </p:spPr>
        <p:txBody>
          <a:bodyPr wrap="square" lIns="27432" rIns="27432" anchor="ctr">
            <a:spAutoFit/>
          </a:bodyPr>
          <a:lstStyle/>
          <a:p>
            <a:pPr algn="l"/>
            <a:r>
              <a:rPr sz="1600" b="0">
                <a:solidFill>
                  <a:srgbClr val="ABBCC5"/>
                </a:solidFill>
                <a:latin typeface="Aptos"/>
              </a:rPr>
              <a:t>A tactile local vision assistant powered by Arduino UNO Q,
Modulino controls, Gemma, and GenieX.</a:t>
            </a:r>
          </a:p>
        </p:txBody>
      </p:sp>
      <p:sp>
        <p:nvSpPr>
          <p:cNvPr id="8" name="Rounded Rectangle 7"/>
          <p:cNvSpPr/>
          <p:nvPr/>
        </p:nvSpPr>
        <p:spPr>
          <a:xfrm>
            <a:off x="685800" y="5349240"/>
            <a:ext cx="1874519" cy="393192"/>
          </a:xfrm>
          <a:prstGeom prst="roundRect">
            <a:avLst/>
          </a:prstGeom>
          <a:solidFill>
            <a:srgbClr val="FF994F"/>
          </a:solidFill>
          <a:ln>
            <a:solidFill>
              <a:srgbClr val="FF99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5394960"/>
            <a:ext cx="1554480" cy="228600"/>
          </a:xfrm>
          <a:prstGeom prst="rect">
            <a:avLst/>
          </a:prstGeom>
          <a:noFill/>
        </p:spPr>
        <p:txBody>
          <a:bodyPr wrap="square" lIns="27432" rIns="27432" anchor="ctr">
            <a:spAutoFit/>
          </a:bodyPr>
          <a:lstStyle/>
          <a:p>
            <a:pPr algn="ctr"/>
            <a:r>
              <a:rPr sz="1000" b="1">
                <a:solidFill>
                  <a:srgbClr val="091320"/>
                </a:solidFill>
                <a:latin typeface="Aptos"/>
              </a:rPr>
              <a:t>LOCAL-FIRST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1320"/>
        </a:solidFill>
        <a:effectLst/>
      </p:bgPr>
    </p:bg>
    <p:spTree>
      <p:nvGrpSpPr>
        <p:cNvPr id="1" name=""/>
        <p:cNvGrpSpPr/>
        <p:nvPr/>
      </p:nvGrpSpPr>
      <p:grpSpPr/>
      <p:sp>
        <p:nvSpPr>
          <p:cNvPr id="2" name="TextBox 1"/>
          <p:cNvSpPr txBox="1"/>
          <p:nvPr/>
        </p:nvSpPr>
        <p:spPr>
          <a:xfrm>
            <a:off x="502920" y="256032"/>
            <a:ext cx="5120640" cy="228600"/>
          </a:xfrm>
          <a:prstGeom prst="rect">
            <a:avLst/>
          </a:prstGeom>
          <a:noFill/>
        </p:spPr>
        <p:txBody>
          <a:bodyPr wrap="square" lIns="27432" rIns="27432" anchor="ctr">
            <a:spAutoFit/>
          </a:bodyPr>
          <a:lstStyle/>
          <a:p>
            <a:pPr algn="l"/>
            <a:r>
              <a:rPr sz="900" b="1">
                <a:solidFill>
                  <a:srgbClr val="47D3CA"/>
                </a:solidFill>
                <a:latin typeface="Aptos"/>
              </a:rPr>
              <a:t>THE FRICTION</a:t>
            </a:r>
          </a:p>
        </p:txBody>
      </p:sp>
      <p:sp>
        <p:nvSpPr>
          <p:cNvPr id="3" name="TextBox 2"/>
          <p:cNvSpPr txBox="1"/>
          <p:nvPr/>
        </p:nvSpPr>
        <p:spPr>
          <a:xfrm>
            <a:off x="11292840" y="256032"/>
            <a:ext cx="502920" cy="228600"/>
          </a:xfrm>
          <a:prstGeom prst="rect">
            <a:avLst/>
          </a:prstGeom>
          <a:noFill/>
        </p:spPr>
        <p:txBody>
          <a:bodyPr wrap="square" lIns="27432" rIns="27432" anchor="ctr">
            <a:spAutoFit/>
          </a:bodyPr>
          <a:lstStyle/>
          <a:p>
            <a:pPr algn="r"/>
            <a:r>
              <a:rPr sz="900" b="1">
                <a:solidFill>
                  <a:srgbClr val="ABBCC5"/>
                </a:solidFill>
                <a:latin typeface="Aptos"/>
              </a:rPr>
              <a:t>02</a:t>
            </a:r>
          </a:p>
        </p:txBody>
      </p:sp>
      <p:sp>
        <p:nvSpPr>
          <p:cNvPr id="4" name="Rectangle 3"/>
          <p:cNvSpPr/>
          <p:nvPr/>
        </p:nvSpPr>
        <p:spPr>
          <a:xfrm>
            <a:off x="502920" y="6510528"/>
            <a:ext cx="11155680" cy="13716"/>
          </a:xfrm>
          <a:prstGeom prst="rect">
            <a:avLst/>
          </a:prstGeom>
          <a:solidFill>
            <a:srgbClr val="283D4A"/>
          </a:solidFill>
          <a:ln>
            <a:solidFill>
              <a:srgbClr val="28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0"/>
            <a:ext cx="6583680" cy="1097280"/>
          </a:xfrm>
          <a:prstGeom prst="rect">
            <a:avLst/>
          </a:prstGeom>
          <a:noFill/>
        </p:spPr>
        <p:txBody>
          <a:bodyPr wrap="square" lIns="27432" rIns="27432" anchor="ctr">
            <a:spAutoFit/>
          </a:bodyPr>
          <a:lstStyle/>
          <a:p>
            <a:pPr algn="l"/>
            <a:r>
              <a:rPr sz="2900" b="1">
                <a:solidFill>
                  <a:srgbClr val="F4F7F2"/>
                </a:solidFill>
                <a:latin typeface="Aptos"/>
              </a:rPr>
              <a:t>Image understanding is powerful.
The interface is still a bottleneck.</a:t>
            </a:r>
          </a:p>
        </p:txBody>
      </p:sp>
      <p:sp>
        <p:nvSpPr>
          <p:cNvPr id="6" name="Rounded Rectangle 5"/>
          <p:cNvSpPr/>
          <p:nvPr/>
        </p:nvSpPr>
        <p:spPr>
          <a:xfrm>
            <a:off x="777240" y="2633472"/>
            <a:ext cx="82296" cy="82296"/>
          </a:xfrm>
          <a:prstGeom prst="roundRect">
            <a:avLst/>
          </a:prstGeom>
          <a:solidFill>
            <a:srgbClr val="FF994F"/>
          </a:solidFill>
          <a:ln>
            <a:solidFill>
              <a:srgbClr val="FF99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8" y="2514600"/>
            <a:ext cx="5029200" cy="384048"/>
          </a:xfrm>
          <a:prstGeom prst="rect">
            <a:avLst/>
          </a:prstGeom>
          <a:noFill/>
        </p:spPr>
        <p:txBody>
          <a:bodyPr wrap="square" lIns="27432" rIns="27432" anchor="ctr">
            <a:spAutoFit/>
          </a:bodyPr>
          <a:lstStyle/>
          <a:p>
            <a:pPr algn="l"/>
            <a:r>
              <a:rPr sz="1600" b="0">
                <a:solidFill>
                  <a:srgbClr val="ABBCC5"/>
                </a:solidFill>
                <a:latin typeface="Aptos"/>
              </a:rPr>
              <a:t>Finding the right image interrupts the flow.</a:t>
            </a:r>
          </a:p>
        </p:txBody>
      </p:sp>
      <p:sp>
        <p:nvSpPr>
          <p:cNvPr id="8" name="Rounded Rectangle 7"/>
          <p:cNvSpPr/>
          <p:nvPr/>
        </p:nvSpPr>
        <p:spPr>
          <a:xfrm>
            <a:off x="777240" y="3273552"/>
            <a:ext cx="82296" cy="82296"/>
          </a:xfrm>
          <a:prstGeom prst="roundRect">
            <a:avLst/>
          </a:prstGeom>
          <a:solidFill>
            <a:srgbClr val="FF994F"/>
          </a:solidFill>
          <a:ln>
            <a:solidFill>
              <a:srgbClr val="FF99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3154680"/>
            <a:ext cx="5029200" cy="384048"/>
          </a:xfrm>
          <a:prstGeom prst="rect">
            <a:avLst/>
          </a:prstGeom>
          <a:noFill/>
        </p:spPr>
        <p:txBody>
          <a:bodyPr wrap="square" lIns="27432" rIns="27432" anchor="ctr">
            <a:spAutoFit/>
          </a:bodyPr>
          <a:lstStyle/>
          <a:p>
            <a:pPr algn="l"/>
            <a:r>
              <a:rPr sz="1600" b="0">
                <a:solidFill>
                  <a:srgbClr val="ABBCC5"/>
                </a:solidFill>
                <a:latin typeface="Aptos"/>
              </a:rPr>
              <a:t>Keyboard-first workflows exclude hands-busy moments.</a:t>
            </a:r>
          </a:p>
        </p:txBody>
      </p:sp>
      <p:sp>
        <p:nvSpPr>
          <p:cNvPr id="10" name="Rounded Rectangle 9"/>
          <p:cNvSpPr/>
          <p:nvPr/>
        </p:nvSpPr>
        <p:spPr>
          <a:xfrm>
            <a:off x="777240" y="3913632"/>
            <a:ext cx="82296" cy="82296"/>
          </a:xfrm>
          <a:prstGeom prst="roundRect">
            <a:avLst/>
          </a:prstGeom>
          <a:solidFill>
            <a:srgbClr val="FF994F"/>
          </a:solidFill>
          <a:ln>
            <a:solidFill>
              <a:srgbClr val="FF99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3794760"/>
            <a:ext cx="5029200" cy="384048"/>
          </a:xfrm>
          <a:prstGeom prst="rect">
            <a:avLst/>
          </a:prstGeom>
          <a:noFill/>
        </p:spPr>
        <p:txBody>
          <a:bodyPr wrap="square" lIns="27432" rIns="27432" anchor="ctr">
            <a:spAutoFit/>
          </a:bodyPr>
          <a:lstStyle/>
          <a:p>
            <a:pPr algn="l"/>
            <a:r>
              <a:rPr sz="1600" b="0">
                <a:solidFill>
                  <a:srgbClr val="ABBCC5"/>
                </a:solidFill>
                <a:latin typeface="Aptos"/>
              </a:rPr>
              <a:t>Cloud-only vision creates privacy and latency concerns.</a:t>
            </a:r>
          </a:p>
        </p:txBody>
      </p:sp>
      <p:sp>
        <p:nvSpPr>
          <p:cNvPr id="12" name="Rounded Rectangle 11"/>
          <p:cNvSpPr/>
          <p:nvPr/>
        </p:nvSpPr>
        <p:spPr>
          <a:xfrm>
            <a:off x="7452360" y="1325880"/>
            <a:ext cx="3611880" cy="4297680"/>
          </a:xfrm>
          <a:prstGeom prst="roundRect">
            <a:avLst/>
          </a:prstGeom>
          <a:solidFill>
            <a:srgbClr val="122732"/>
          </a:solidFill>
          <a:ln>
            <a:solidFill>
              <a:srgbClr val="1227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1874519"/>
            <a:ext cx="2743200" cy="1600200"/>
          </a:xfrm>
          <a:prstGeom prst="rect">
            <a:avLst/>
          </a:prstGeom>
          <a:noFill/>
        </p:spPr>
        <p:txBody>
          <a:bodyPr wrap="square" lIns="27432" rIns="27432" anchor="ctr">
            <a:spAutoFit/>
          </a:bodyPr>
          <a:lstStyle/>
          <a:p>
            <a:pPr algn="ctr"/>
            <a:r>
              <a:rPr sz="2500" b="1">
                <a:solidFill>
                  <a:srgbClr val="47D3CA"/>
                </a:solidFill>
                <a:latin typeface="Aptos"/>
              </a:rPr>
              <a:t>SELECT
ASK
UNDERSTAND</a:t>
            </a:r>
          </a:p>
        </p:txBody>
      </p:sp>
      <p:sp>
        <p:nvSpPr>
          <p:cNvPr id="14" name="TextBox 13"/>
          <p:cNvSpPr txBox="1"/>
          <p:nvPr/>
        </p:nvSpPr>
        <p:spPr>
          <a:xfrm>
            <a:off x="8046720" y="4160520"/>
            <a:ext cx="2423160" cy="640080"/>
          </a:xfrm>
          <a:prstGeom prst="rect">
            <a:avLst/>
          </a:prstGeom>
          <a:noFill/>
        </p:spPr>
        <p:txBody>
          <a:bodyPr wrap="square" lIns="27432" rIns="27432" anchor="ctr">
            <a:spAutoFit/>
          </a:bodyPr>
          <a:lstStyle/>
          <a:p>
            <a:pPr algn="ctr"/>
            <a:r>
              <a:rPr sz="1700" b="1">
                <a:solidFill>
                  <a:srgbClr val="F4F7F2"/>
                </a:solidFill>
                <a:latin typeface="Aptos"/>
              </a:rPr>
              <a:t>Three actions.
One physical loop.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1320"/>
        </a:solidFill>
        <a:effectLst/>
      </p:bgPr>
    </p:bg>
    <p:spTree>
      <p:nvGrpSpPr>
        <p:cNvPr id="1" name=""/>
        <p:cNvGrpSpPr/>
        <p:nvPr/>
      </p:nvGrpSpPr>
      <p:grpSpPr/>
      <p:sp>
        <p:nvSpPr>
          <p:cNvPr id="2" name="TextBox 1"/>
          <p:cNvSpPr txBox="1"/>
          <p:nvPr/>
        </p:nvSpPr>
        <p:spPr>
          <a:xfrm>
            <a:off x="502920" y="256032"/>
            <a:ext cx="5120640" cy="228600"/>
          </a:xfrm>
          <a:prstGeom prst="rect">
            <a:avLst/>
          </a:prstGeom>
          <a:noFill/>
        </p:spPr>
        <p:txBody>
          <a:bodyPr wrap="square" lIns="27432" rIns="27432" anchor="ctr">
            <a:spAutoFit/>
          </a:bodyPr>
          <a:lstStyle/>
          <a:p>
            <a:pPr algn="l"/>
            <a:r>
              <a:rPr sz="900" b="1">
                <a:solidFill>
                  <a:srgbClr val="47D3CA"/>
                </a:solidFill>
                <a:latin typeface="Aptos"/>
              </a:rPr>
              <a:t>THE SOLUTION</a:t>
            </a:r>
          </a:p>
        </p:txBody>
      </p:sp>
      <p:sp>
        <p:nvSpPr>
          <p:cNvPr id="3" name="TextBox 2"/>
          <p:cNvSpPr txBox="1"/>
          <p:nvPr/>
        </p:nvSpPr>
        <p:spPr>
          <a:xfrm>
            <a:off x="11292840" y="256032"/>
            <a:ext cx="502920" cy="228600"/>
          </a:xfrm>
          <a:prstGeom prst="rect">
            <a:avLst/>
          </a:prstGeom>
          <a:noFill/>
        </p:spPr>
        <p:txBody>
          <a:bodyPr wrap="square" lIns="27432" rIns="27432" anchor="ctr">
            <a:spAutoFit/>
          </a:bodyPr>
          <a:lstStyle/>
          <a:p>
            <a:pPr algn="r"/>
            <a:r>
              <a:rPr sz="900" b="1">
                <a:solidFill>
                  <a:srgbClr val="ABBCC5"/>
                </a:solidFill>
                <a:latin typeface="Aptos"/>
              </a:rPr>
              <a:t>03</a:t>
            </a:r>
          </a:p>
        </p:txBody>
      </p:sp>
      <p:sp>
        <p:nvSpPr>
          <p:cNvPr id="4" name="Rectangle 3"/>
          <p:cNvSpPr/>
          <p:nvPr/>
        </p:nvSpPr>
        <p:spPr>
          <a:xfrm>
            <a:off x="502920" y="6510528"/>
            <a:ext cx="11155680" cy="13716"/>
          </a:xfrm>
          <a:prstGeom prst="rect">
            <a:avLst/>
          </a:prstGeom>
          <a:solidFill>
            <a:srgbClr val="283D4A"/>
          </a:solidFill>
          <a:ln>
            <a:solidFill>
              <a:srgbClr val="28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6217920" cy="1097280"/>
          </a:xfrm>
          <a:prstGeom prst="rect">
            <a:avLst/>
          </a:prstGeom>
          <a:noFill/>
        </p:spPr>
        <p:txBody>
          <a:bodyPr wrap="square" lIns="27432" rIns="27432" anchor="ctr">
            <a:spAutoFit/>
          </a:bodyPr>
          <a:lstStyle/>
          <a:p>
            <a:pPr algn="l"/>
            <a:r>
              <a:rPr sz="3000" b="1">
                <a:solidFill>
                  <a:srgbClr val="F4F7F2"/>
                </a:solidFill>
                <a:latin typeface="Aptos"/>
              </a:rPr>
              <a:t>A physical control surface
for a local vision model.</a:t>
            </a:r>
          </a:p>
        </p:txBody>
      </p:sp>
      <p:sp>
        <p:nvSpPr>
          <p:cNvPr id="6" name="Rounded Rectangle 5"/>
          <p:cNvSpPr/>
          <p:nvPr/>
        </p:nvSpPr>
        <p:spPr>
          <a:xfrm>
            <a:off x="685800" y="2423160"/>
            <a:ext cx="3063240" cy="2331720"/>
          </a:xfrm>
          <a:prstGeom prst="roundRect">
            <a:avLst/>
          </a:prstGeom>
          <a:solidFill>
            <a:srgbClr val="122732"/>
          </a:solidFill>
          <a:ln>
            <a:solidFill>
              <a:srgbClr val="1227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697480"/>
            <a:ext cx="640080" cy="457200"/>
          </a:xfrm>
          <a:prstGeom prst="rect">
            <a:avLst/>
          </a:prstGeom>
          <a:noFill/>
        </p:spPr>
        <p:txBody>
          <a:bodyPr wrap="square" lIns="27432" rIns="27432" anchor="ctr">
            <a:spAutoFit/>
          </a:bodyPr>
          <a:lstStyle/>
          <a:p>
            <a:pPr algn="l"/>
            <a:r>
              <a:rPr sz="2300" b="1">
                <a:solidFill>
                  <a:srgbClr val="FF994F"/>
                </a:solidFill>
                <a:latin typeface="Aptos"/>
              </a:rPr>
              <a:t>01</a:t>
            </a:r>
          </a:p>
        </p:txBody>
      </p:sp>
      <p:sp>
        <p:nvSpPr>
          <p:cNvPr id="8" name="TextBox 7"/>
          <p:cNvSpPr txBox="1"/>
          <p:nvPr/>
        </p:nvSpPr>
        <p:spPr>
          <a:xfrm>
            <a:off x="960120" y="3291840"/>
            <a:ext cx="2377440" cy="411480"/>
          </a:xfrm>
          <a:prstGeom prst="rect">
            <a:avLst/>
          </a:prstGeom>
          <a:noFill/>
        </p:spPr>
        <p:txBody>
          <a:bodyPr wrap="square" lIns="27432" rIns="27432" anchor="ctr">
            <a:spAutoFit/>
          </a:bodyPr>
          <a:lstStyle/>
          <a:p>
            <a:pPr algn="l"/>
            <a:r>
              <a:rPr sz="2300" b="1">
                <a:solidFill>
                  <a:srgbClr val="F4F7F2"/>
                </a:solidFill>
                <a:latin typeface="Aptos"/>
              </a:rPr>
              <a:t>Turn</a:t>
            </a:r>
          </a:p>
        </p:txBody>
      </p:sp>
      <p:sp>
        <p:nvSpPr>
          <p:cNvPr id="9" name="TextBox 8"/>
          <p:cNvSpPr txBox="1"/>
          <p:nvPr/>
        </p:nvSpPr>
        <p:spPr>
          <a:xfrm>
            <a:off x="960120" y="3840480"/>
            <a:ext cx="2286000" cy="320040"/>
          </a:xfrm>
          <a:prstGeom prst="rect">
            <a:avLst/>
          </a:prstGeom>
          <a:noFill/>
        </p:spPr>
        <p:txBody>
          <a:bodyPr wrap="square" lIns="27432" rIns="27432" anchor="ctr">
            <a:spAutoFit/>
          </a:bodyPr>
          <a:lstStyle/>
          <a:p>
            <a:pPr algn="l"/>
            <a:r>
              <a:rPr sz="1500" b="0">
                <a:solidFill>
                  <a:srgbClr val="ABBCC5"/>
                </a:solidFill>
                <a:latin typeface="Aptos"/>
              </a:rPr>
              <a:t>Choose the image</a:t>
            </a:r>
          </a:p>
        </p:txBody>
      </p:sp>
      <p:sp>
        <p:nvSpPr>
          <p:cNvPr id="10" name="Rounded Rectangle 9"/>
          <p:cNvSpPr/>
          <p:nvPr/>
        </p:nvSpPr>
        <p:spPr>
          <a:xfrm>
            <a:off x="4526280" y="2423160"/>
            <a:ext cx="3063240" cy="2331720"/>
          </a:xfrm>
          <a:prstGeom prst="roundRect">
            <a:avLst/>
          </a:prstGeom>
          <a:solidFill>
            <a:srgbClr val="122732"/>
          </a:solidFill>
          <a:ln>
            <a:solidFill>
              <a:srgbClr val="1227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00600" y="2697480"/>
            <a:ext cx="640080" cy="457200"/>
          </a:xfrm>
          <a:prstGeom prst="rect">
            <a:avLst/>
          </a:prstGeom>
          <a:noFill/>
        </p:spPr>
        <p:txBody>
          <a:bodyPr wrap="square" lIns="27432" rIns="27432" anchor="ctr">
            <a:spAutoFit/>
          </a:bodyPr>
          <a:lstStyle/>
          <a:p>
            <a:pPr algn="l"/>
            <a:r>
              <a:rPr sz="2300" b="1">
                <a:solidFill>
                  <a:srgbClr val="47D3CA"/>
                </a:solidFill>
                <a:latin typeface="Aptos"/>
              </a:rPr>
              <a:t>02</a:t>
            </a:r>
          </a:p>
        </p:txBody>
      </p:sp>
      <p:sp>
        <p:nvSpPr>
          <p:cNvPr id="12" name="TextBox 11"/>
          <p:cNvSpPr txBox="1"/>
          <p:nvPr/>
        </p:nvSpPr>
        <p:spPr>
          <a:xfrm>
            <a:off x="4800600" y="3291840"/>
            <a:ext cx="2377440" cy="411480"/>
          </a:xfrm>
          <a:prstGeom prst="rect">
            <a:avLst/>
          </a:prstGeom>
          <a:noFill/>
        </p:spPr>
        <p:txBody>
          <a:bodyPr wrap="square" lIns="27432" rIns="27432" anchor="ctr">
            <a:spAutoFit/>
          </a:bodyPr>
          <a:lstStyle/>
          <a:p>
            <a:pPr algn="l"/>
            <a:r>
              <a:rPr sz="2300" b="1">
                <a:solidFill>
                  <a:srgbClr val="F4F7F2"/>
                </a:solidFill>
                <a:latin typeface="Aptos"/>
              </a:rPr>
              <a:t>Press A</a:t>
            </a:r>
          </a:p>
        </p:txBody>
      </p:sp>
      <p:sp>
        <p:nvSpPr>
          <p:cNvPr id="13" name="TextBox 12"/>
          <p:cNvSpPr txBox="1"/>
          <p:nvPr/>
        </p:nvSpPr>
        <p:spPr>
          <a:xfrm>
            <a:off x="4800600" y="3840480"/>
            <a:ext cx="2560320" cy="320040"/>
          </a:xfrm>
          <a:prstGeom prst="rect">
            <a:avLst/>
          </a:prstGeom>
          <a:noFill/>
        </p:spPr>
        <p:txBody>
          <a:bodyPr wrap="square" lIns="27432" rIns="27432" anchor="ctr">
            <a:spAutoFit/>
          </a:bodyPr>
          <a:lstStyle/>
          <a:p>
            <a:pPr algn="l"/>
            <a:r>
              <a:rPr sz="1500" b="0">
                <a:solidFill>
                  <a:srgbClr val="ABBCC5"/>
                </a:solidFill>
                <a:latin typeface="Aptos"/>
              </a:rPr>
              <a:t>Submit the typed question</a:t>
            </a:r>
          </a:p>
        </p:txBody>
      </p:sp>
      <p:sp>
        <p:nvSpPr>
          <p:cNvPr id="14" name="Rounded Rectangle 13"/>
          <p:cNvSpPr/>
          <p:nvPr/>
        </p:nvSpPr>
        <p:spPr>
          <a:xfrm>
            <a:off x="8366760" y="2423160"/>
            <a:ext cx="3063240" cy="2331720"/>
          </a:xfrm>
          <a:prstGeom prst="roundRect">
            <a:avLst/>
          </a:prstGeom>
          <a:solidFill>
            <a:srgbClr val="122732"/>
          </a:solidFill>
          <a:ln>
            <a:solidFill>
              <a:srgbClr val="1227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41080" y="2697480"/>
            <a:ext cx="640080" cy="457200"/>
          </a:xfrm>
          <a:prstGeom prst="rect">
            <a:avLst/>
          </a:prstGeom>
          <a:noFill/>
        </p:spPr>
        <p:txBody>
          <a:bodyPr wrap="square" lIns="27432" rIns="27432" anchor="ctr">
            <a:spAutoFit/>
          </a:bodyPr>
          <a:lstStyle/>
          <a:p>
            <a:pPr algn="l"/>
            <a:r>
              <a:rPr sz="2300" b="1">
                <a:solidFill>
                  <a:srgbClr val="FF994F"/>
                </a:solidFill>
                <a:latin typeface="Aptos"/>
              </a:rPr>
              <a:t>03</a:t>
            </a:r>
          </a:p>
        </p:txBody>
      </p:sp>
      <p:sp>
        <p:nvSpPr>
          <p:cNvPr id="16" name="TextBox 15"/>
          <p:cNvSpPr txBox="1"/>
          <p:nvPr/>
        </p:nvSpPr>
        <p:spPr>
          <a:xfrm>
            <a:off x="8641080" y="3291840"/>
            <a:ext cx="2377440" cy="411480"/>
          </a:xfrm>
          <a:prstGeom prst="rect">
            <a:avLst/>
          </a:prstGeom>
          <a:noFill/>
        </p:spPr>
        <p:txBody>
          <a:bodyPr wrap="square" lIns="27432" rIns="27432" anchor="ctr">
            <a:spAutoFit/>
          </a:bodyPr>
          <a:lstStyle/>
          <a:p>
            <a:pPr algn="l"/>
            <a:r>
              <a:rPr sz="2300" b="1">
                <a:solidFill>
                  <a:srgbClr val="F4F7F2"/>
                </a:solidFill>
                <a:latin typeface="Aptos"/>
              </a:rPr>
              <a:t>See</a:t>
            </a:r>
          </a:p>
        </p:txBody>
      </p:sp>
      <p:sp>
        <p:nvSpPr>
          <p:cNvPr id="17" name="TextBox 16"/>
          <p:cNvSpPr txBox="1"/>
          <p:nvPr/>
        </p:nvSpPr>
        <p:spPr>
          <a:xfrm>
            <a:off x="8641080" y="3840480"/>
            <a:ext cx="2560320" cy="320040"/>
          </a:xfrm>
          <a:prstGeom prst="rect">
            <a:avLst/>
          </a:prstGeom>
          <a:noFill/>
        </p:spPr>
        <p:txBody>
          <a:bodyPr wrap="square" lIns="27432" rIns="27432" anchor="ctr">
            <a:spAutoFit/>
          </a:bodyPr>
          <a:lstStyle/>
          <a:p>
            <a:pPr algn="l"/>
            <a:r>
              <a:rPr sz="1500" b="0">
                <a:solidFill>
                  <a:srgbClr val="ABBCC5"/>
                </a:solidFill>
                <a:latin typeface="Aptos"/>
              </a:rPr>
              <a:t>Get a grounded answer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1320"/>
        </a:solidFill>
        <a:effectLst/>
      </p:bgPr>
    </p:bg>
    <p:spTree>
      <p:nvGrpSpPr>
        <p:cNvPr id="1" name=""/>
        <p:cNvGrpSpPr/>
        <p:nvPr/>
      </p:nvGrpSpPr>
      <p:grpSpPr/>
      <p:sp>
        <p:nvSpPr>
          <p:cNvPr id="2" name="TextBox 1"/>
          <p:cNvSpPr txBox="1"/>
          <p:nvPr/>
        </p:nvSpPr>
        <p:spPr>
          <a:xfrm>
            <a:off x="502920" y="256032"/>
            <a:ext cx="5120640" cy="228600"/>
          </a:xfrm>
          <a:prstGeom prst="rect">
            <a:avLst/>
          </a:prstGeom>
          <a:noFill/>
        </p:spPr>
        <p:txBody>
          <a:bodyPr wrap="square" lIns="27432" rIns="27432" anchor="ctr">
            <a:spAutoFit/>
          </a:bodyPr>
          <a:lstStyle/>
          <a:p>
            <a:pPr algn="l"/>
            <a:r>
              <a:rPr sz="900" b="1">
                <a:solidFill>
                  <a:srgbClr val="47D3CA"/>
                </a:solidFill>
                <a:latin typeface="Aptos"/>
              </a:rPr>
              <a:t>UNDER THE HOOD</a:t>
            </a:r>
          </a:p>
        </p:txBody>
      </p:sp>
      <p:sp>
        <p:nvSpPr>
          <p:cNvPr id="3" name="TextBox 2"/>
          <p:cNvSpPr txBox="1"/>
          <p:nvPr/>
        </p:nvSpPr>
        <p:spPr>
          <a:xfrm>
            <a:off x="11292840" y="256032"/>
            <a:ext cx="502920" cy="228600"/>
          </a:xfrm>
          <a:prstGeom prst="rect">
            <a:avLst/>
          </a:prstGeom>
          <a:noFill/>
        </p:spPr>
        <p:txBody>
          <a:bodyPr wrap="square" lIns="27432" rIns="27432" anchor="ctr">
            <a:spAutoFit/>
          </a:bodyPr>
          <a:lstStyle/>
          <a:p>
            <a:pPr algn="r"/>
            <a:r>
              <a:rPr sz="900" b="1">
                <a:solidFill>
                  <a:srgbClr val="ABBCC5"/>
                </a:solidFill>
                <a:latin typeface="Aptos"/>
              </a:rPr>
              <a:t>04</a:t>
            </a:r>
          </a:p>
        </p:txBody>
      </p:sp>
      <p:sp>
        <p:nvSpPr>
          <p:cNvPr id="4" name="Rectangle 3"/>
          <p:cNvSpPr/>
          <p:nvPr/>
        </p:nvSpPr>
        <p:spPr>
          <a:xfrm>
            <a:off x="502920" y="6510528"/>
            <a:ext cx="11155680" cy="13716"/>
          </a:xfrm>
          <a:prstGeom prst="rect">
            <a:avLst/>
          </a:prstGeom>
          <a:solidFill>
            <a:srgbClr val="283D4A"/>
          </a:solidFill>
          <a:ln>
            <a:solidFill>
              <a:srgbClr val="28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5943600" cy="548640"/>
          </a:xfrm>
          <a:prstGeom prst="rect">
            <a:avLst/>
          </a:prstGeom>
          <a:noFill/>
        </p:spPr>
        <p:txBody>
          <a:bodyPr wrap="square" lIns="27432" rIns="27432" anchor="ctr">
            <a:spAutoFit/>
          </a:bodyPr>
          <a:lstStyle/>
          <a:p>
            <a:pPr algn="l"/>
            <a:r>
              <a:rPr sz="3000" b="1">
                <a:solidFill>
                  <a:srgbClr val="F4F7F2"/>
                </a:solidFill>
                <a:latin typeface="Aptos"/>
              </a:rPr>
              <a:t>One loop. Four layers.</a:t>
            </a:r>
          </a:p>
        </p:txBody>
      </p:sp>
      <p:sp>
        <p:nvSpPr>
          <p:cNvPr id="6" name="Rounded Rectangle 5"/>
          <p:cNvSpPr/>
          <p:nvPr/>
        </p:nvSpPr>
        <p:spPr>
          <a:xfrm>
            <a:off x="777240" y="2240280"/>
            <a:ext cx="2148840" cy="1508760"/>
          </a:xfrm>
          <a:prstGeom prst="roundRect">
            <a:avLst/>
          </a:prstGeom>
          <a:solidFill>
            <a:srgbClr val="122732"/>
          </a:solidFill>
          <a:ln>
            <a:solidFill>
              <a:srgbClr val="1227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542032"/>
            <a:ext cx="1783080" cy="274320"/>
          </a:xfrm>
          <a:prstGeom prst="rect">
            <a:avLst/>
          </a:prstGeom>
          <a:noFill/>
        </p:spPr>
        <p:txBody>
          <a:bodyPr wrap="square" lIns="27432" rIns="27432" anchor="ctr">
            <a:spAutoFit/>
          </a:bodyPr>
          <a:lstStyle/>
          <a:p>
            <a:pPr algn="ctr"/>
            <a:r>
              <a:rPr sz="1300" b="1">
                <a:solidFill>
                  <a:srgbClr val="FF994F"/>
                </a:solidFill>
                <a:latin typeface="Aptos"/>
              </a:rPr>
              <a:t>MODULINO</a:t>
            </a:r>
          </a:p>
        </p:txBody>
      </p:sp>
      <p:sp>
        <p:nvSpPr>
          <p:cNvPr id="8" name="TextBox 7"/>
          <p:cNvSpPr txBox="1"/>
          <p:nvPr/>
        </p:nvSpPr>
        <p:spPr>
          <a:xfrm>
            <a:off x="960120" y="3063240"/>
            <a:ext cx="1783080" cy="320040"/>
          </a:xfrm>
          <a:prstGeom prst="rect">
            <a:avLst/>
          </a:prstGeom>
          <a:noFill/>
        </p:spPr>
        <p:txBody>
          <a:bodyPr wrap="square" lIns="27432" rIns="27432" anchor="ctr">
            <a:spAutoFit/>
          </a:bodyPr>
          <a:lstStyle/>
          <a:p>
            <a:pPr algn="ctr"/>
            <a:r>
              <a:rPr sz="1400" b="1">
                <a:solidFill>
                  <a:srgbClr val="F4F7F2"/>
                </a:solidFill>
                <a:latin typeface="Aptos"/>
              </a:rPr>
              <a:t>Knob + buttons</a:t>
            </a:r>
          </a:p>
        </p:txBody>
      </p:sp>
      <p:sp>
        <p:nvSpPr>
          <p:cNvPr id="9" name="TextBox 8"/>
          <p:cNvSpPr txBox="1"/>
          <p:nvPr/>
        </p:nvSpPr>
        <p:spPr>
          <a:xfrm>
            <a:off x="3044952" y="2743200"/>
            <a:ext cx="320040" cy="411480"/>
          </a:xfrm>
          <a:prstGeom prst="rect">
            <a:avLst/>
          </a:prstGeom>
          <a:noFill/>
        </p:spPr>
        <p:txBody>
          <a:bodyPr wrap="square" lIns="27432" rIns="27432" anchor="ctr">
            <a:spAutoFit/>
          </a:bodyPr>
          <a:lstStyle/>
          <a:p>
            <a:pPr algn="ctr"/>
            <a:r>
              <a:rPr sz="2300" b="1">
                <a:solidFill>
                  <a:srgbClr val="ABBCC5"/>
                </a:solidFill>
                <a:latin typeface="Aptos"/>
              </a:rPr>
              <a:t>&gt;</a:t>
            </a:r>
          </a:p>
        </p:txBody>
      </p:sp>
      <p:sp>
        <p:nvSpPr>
          <p:cNvPr id="10" name="Rounded Rectangle 9"/>
          <p:cNvSpPr/>
          <p:nvPr/>
        </p:nvSpPr>
        <p:spPr>
          <a:xfrm>
            <a:off x="3566160" y="2240280"/>
            <a:ext cx="2148840" cy="1508760"/>
          </a:xfrm>
          <a:prstGeom prst="roundRect">
            <a:avLst/>
          </a:prstGeom>
          <a:solidFill>
            <a:srgbClr val="122732"/>
          </a:solidFill>
          <a:ln>
            <a:solidFill>
              <a:srgbClr val="1227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9039" y="2542032"/>
            <a:ext cx="1783080" cy="274320"/>
          </a:xfrm>
          <a:prstGeom prst="rect">
            <a:avLst/>
          </a:prstGeom>
          <a:noFill/>
        </p:spPr>
        <p:txBody>
          <a:bodyPr wrap="square" lIns="27432" rIns="27432" anchor="ctr">
            <a:spAutoFit/>
          </a:bodyPr>
          <a:lstStyle/>
          <a:p>
            <a:pPr algn="ctr"/>
            <a:r>
              <a:rPr sz="1300" b="1">
                <a:solidFill>
                  <a:srgbClr val="47D3CA"/>
                </a:solidFill>
                <a:latin typeface="Aptos"/>
              </a:rPr>
              <a:t>UNO Q</a:t>
            </a:r>
          </a:p>
        </p:txBody>
      </p:sp>
      <p:sp>
        <p:nvSpPr>
          <p:cNvPr id="12" name="TextBox 11"/>
          <p:cNvSpPr txBox="1"/>
          <p:nvPr/>
        </p:nvSpPr>
        <p:spPr>
          <a:xfrm>
            <a:off x="3749039" y="3063240"/>
            <a:ext cx="1783080" cy="320040"/>
          </a:xfrm>
          <a:prstGeom prst="rect">
            <a:avLst/>
          </a:prstGeom>
          <a:noFill/>
        </p:spPr>
        <p:txBody>
          <a:bodyPr wrap="square" lIns="27432" rIns="27432" anchor="ctr">
            <a:spAutoFit/>
          </a:bodyPr>
          <a:lstStyle/>
          <a:p>
            <a:pPr algn="ctr"/>
            <a:r>
              <a:rPr sz="1400" b="1">
                <a:solidFill>
                  <a:srgbClr val="F4F7F2"/>
                </a:solidFill>
                <a:latin typeface="Aptos"/>
              </a:rPr>
              <a:t>USB serial bridge</a:t>
            </a:r>
          </a:p>
        </p:txBody>
      </p:sp>
      <p:sp>
        <p:nvSpPr>
          <p:cNvPr id="13" name="TextBox 12"/>
          <p:cNvSpPr txBox="1"/>
          <p:nvPr/>
        </p:nvSpPr>
        <p:spPr>
          <a:xfrm>
            <a:off x="5833872" y="2743200"/>
            <a:ext cx="320040" cy="411480"/>
          </a:xfrm>
          <a:prstGeom prst="rect">
            <a:avLst/>
          </a:prstGeom>
          <a:noFill/>
        </p:spPr>
        <p:txBody>
          <a:bodyPr wrap="square" lIns="27432" rIns="27432" anchor="ctr">
            <a:spAutoFit/>
          </a:bodyPr>
          <a:lstStyle/>
          <a:p>
            <a:pPr algn="ctr"/>
            <a:r>
              <a:rPr sz="2300" b="1">
                <a:solidFill>
                  <a:srgbClr val="ABBCC5"/>
                </a:solidFill>
                <a:latin typeface="Aptos"/>
              </a:rPr>
              <a:t>&gt;</a:t>
            </a:r>
          </a:p>
        </p:txBody>
      </p:sp>
      <p:sp>
        <p:nvSpPr>
          <p:cNvPr id="14" name="Rounded Rectangle 13"/>
          <p:cNvSpPr/>
          <p:nvPr/>
        </p:nvSpPr>
        <p:spPr>
          <a:xfrm>
            <a:off x="6355079" y="2240280"/>
            <a:ext cx="2148840" cy="1508760"/>
          </a:xfrm>
          <a:prstGeom prst="roundRect">
            <a:avLst/>
          </a:prstGeom>
          <a:solidFill>
            <a:srgbClr val="122732"/>
          </a:solidFill>
          <a:ln>
            <a:solidFill>
              <a:srgbClr val="1227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59" y="2542032"/>
            <a:ext cx="1783080" cy="274320"/>
          </a:xfrm>
          <a:prstGeom prst="rect">
            <a:avLst/>
          </a:prstGeom>
          <a:noFill/>
        </p:spPr>
        <p:txBody>
          <a:bodyPr wrap="square" lIns="27432" rIns="27432" anchor="ctr">
            <a:spAutoFit/>
          </a:bodyPr>
          <a:lstStyle/>
          <a:p>
            <a:pPr algn="ctr"/>
            <a:r>
              <a:rPr sz="1300" b="1">
                <a:solidFill>
                  <a:srgbClr val="FF994F"/>
                </a:solidFill>
                <a:latin typeface="Aptos"/>
              </a:rPr>
              <a:t>STREAMLIT</a:t>
            </a:r>
          </a:p>
        </p:txBody>
      </p:sp>
      <p:sp>
        <p:nvSpPr>
          <p:cNvPr id="16" name="TextBox 15"/>
          <p:cNvSpPr txBox="1"/>
          <p:nvPr/>
        </p:nvSpPr>
        <p:spPr>
          <a:xfrm>
            <a:off x="6537959" y="3063240"/>
            <a:ext cx="1783080" cy="320040"/>
          </a:xfrm>
          <a:prstGeom prst="rect">
            <a:avLst/>
          </a:prstGeom>
          <a:noFill/>
        </p:spPr>
        <p:txBody>
          <a:bodyPr wrap="square" lIns="27432" rIns="27432" anchor="ctr">
            <a:spAutoFit/>
          </a:bodyPr>
          <a:lstStyle/>
          <a:p>
            <a:pPr algn="ctr"/>
            <a:r>
              <a:rPr sz="1400" b="1">
                <a:solidFill>
                  <a:srgbClr val="F4F7F2"/>
                </a:solidFill>
                <a:latin typeface="Aptos"/>
              </a:rPr>
              <a:t>Selection + chat</a:t>
            </a:r>
          </a:p>
        </p:txBody>
      </p:sp>
      <p:sp>
        <p:nvSpPr>
          <p:cNvPr id="17" name="TextBox 16"/>
          <p:cNvSpPr txBox="1"/>
          <p:nvPr/>
        </p:nvSpPr>
        <p:spPr>
          <a:xfrm>
            <a:off x="8622792" y="2743200"/>
            <a:ext cx="320040" cy="411480"/>
          </a:xfrm>
          <a:prstGeom prst="rect">
            <a:avLst/>
          </a:prstGeom>
          <a:noFill/>
        </p:spPr>
        <p:txBody>
          <a:bodyPr wrap="square" lIns="27432" rIns="27432" anchor="ctr">
            <a:spAutoFit/>
          </a:bodyPr>
          <a:lstStyle/>
          <a:p>
            <a:pPr algn="ctr"/>
            <a:r>
              <a:rPr sz="2300" b="1">
                <a:solidFill>
                  <a:srgbClr val="ABBCC5"/>
                </a:solidFill>
                <a:latin typeface="Aptos"/>
              </a:rPr>
              <a:t>&gt;</a:t>
            </a:r>
          </a:p>
        </p:txBody>
      </p:sp>
      <p:sp>
        <p:nvSpPr>
          <p:cNvPr id="18" name="Rounded Rectangle 17"/>
          <p:cNvSpPr/>
          <p:nvPr/>
        </p:nvSpPr>
        <p:spPr>
          <a:xfrm>
            <a:off x="9143999" y="2240280"/>
            <a:ext cx="2148840" cy="1508760"/>
          </a:xfrm>
          <a:prstGeom prst="roundRect">
            <a:avLst/>
          </a:prstGeom>
          <a:solidFill>
            <a:srgbClr val="122732"/>
          </a:solidFill>
          <a:ln>
            <a:solidFill>
              <a:srgbClr val="1227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79" y="2542032"/>
            <a:ext cx="1783080" cy="274320"/>
          </a:xfrm>
          <a:prstGeom prst="rect">
            <a:avLst/>
          </a:prstGeom>
          <a:noFill/>
        </p:spPr>
        <p:txBody>
          <a:bodyPr wrap="square" lIns="27432" rIns="27432" anchor="ctr">
            <a:spAutoFit/>
          </a:bodyPr>
          <a:lstStyle/>
          <a:p>
            <a:pPr algn="ctr"/>
            <a:r>
              <a:rPr sz="1300" b="1">
                <a:solidFill>
                  <a:srgbClr val="47D3CA"/>
                </a:solidFill>
                <a:latin typeface="Aptos"/>
              </a:rPr>
              <a:t>GEMMA</a:t>
            </a:r>
          </a:p>
        </p:txBody>
      </p:sp>
      <p:sp>
        <p:nvSpPr>
          <p:cNvPr id="20" name="TextBox 19"/>
          <p:cNvSpPr txBox="1"/>
          <p:nvPr/>
        </p:nvSpPr>
        <p:spPr>
          <a:xfrm>
            <a:off x="9326879" y="3063240"/>
            <a:ext cx="1783080" cy="320040"/>
          </a:xfrm>
          <a:prstGeom prst="rect">
            <a:avLst/>
          </a:prstGeom>
          <a:noFill/>
        </p:spPr>
        <p:txBody>
          <a:bodyPr wrap="square" lIns="27432" rIns="27432" anchor="ctr">
            <a:spAutoFit/>
          </a:bodyPr>
          <a:lstStyle/>
          <a:p>
            <a:pPr algn="ctr"/>
            <a:r>
              <a:rPr sz="1400" b="1">
                <a:solidFill>
                  <a:srgbClr val="F4F7F2"/>
                </a:solidFill>
                <a:latin typeface="Aptos"/>
              </a:rPr>
              <a:t>Grounded vision</a:t>
            </a:r>
          </a:p>
        </p:txBody>
      </p:sp>
      <p:sp>
        <p:nvSpPr>
          <p:cNvPr id="21" name="TextBox 20"/>
          <p:cNvSpPr txBox="1"/>
          <p:nvPr/>
        </p:nvSpPr>
        <p:spPr>
          <a:xfrm>
            <a:off x="914400" y="4709160"/>
            <a:ext cx="10058400" cy="685800"/>
          </a:xfrm>
          <a:prstGeom prst="rect">
            <a:avLst/>
          </a:prstGeom>
          <a:noFill/>
        </p:spPr>
        <p:txBody>
          <a:bodyPr wrap="square" lIns="27432" rIns="27432" anchor="ctr">
            <a:spAutoFit/>
          </a:bodyPr>
          <a:lstStyle/>
          <a:p>
            <a:pPr algn="ctr"/>
            <a:r>
              <a:rPr sz="1800" b="0">
                <a:solidFill>
                  <a:srgbClr val="ABBCC5"/>
                </a:solidFill>
                <a:latin typeface="Aptos"/>
              </a:rPr>
              <a:t>JSON events in. Status commands out.
The image stays local; the answer stays grounded in the selected frame.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1320"/>
        </a:solidFill>
        <a:effectLst/>
      </p:bgPr>
    </p:bg>
    <p:spTree>
      <p:nvGrpSpPr>
        <p:cNvPr id="1" name=""/>
        <p:cNvGrpSpPr/>
        <p:nvPr/>
      </p:nvGrpSpPr>
      <p:grpSpPr/>
      <p:sp>
        <p:nvSpPr>
          <p:cNvPr id="2" name="TextBox 1"/>
          <p:cNvSpPr txBox="1"/>
          <p:nvPr/>
        </p:nvSpPr>
        <p:spPr>
          <a:xfrm>
            <a:off x="502920" y="256032"/>
            <a:ext cx="5120640" cy="228600"/>
          </a:xfrm>
          <a:prstGeom prst="rect">
            <a:avLst/>
          </a:prstGeom>
          <a:noFill/>
        </p:spPr>
        <p:txBody>
          <a:bodyPr wrap="square" lIns="27432" rIns="27432" anchor="ctr">
            <a:spAutoFit/>
          </a:bodyPr>
          <a:lstStyle/>
          <a:p>
            <a:pPr algn="l"/>
            <a:r>
              <a:rPr sz="900" b="1">
                <a:solidFill>
                  <a:srgbClr val="47D3CA"/>
                </a:solidFill>
                <a:latin typeface="Aptos"/>
              </a:rPr>
              <a:t>THE DEMO</a:t>
            </a:r>
          </a:p>
        </p:txBody>
      </p:sp>
      <p:sp>
        <p:nvSpPr>
          <p:cNvPr id="3" name="TextBox 2"/>
          <p:cNvSpPr txBox="1"/>
          <p:nvPr/>
        </p:nvSpPr>
        <p:spPr>
          <a:xfrm>
            <a:off x="11292840" y="256032"/>
            <a:ext cx="502920" cy="228600"/>
          </a:xfrm>
          <a:prstGeom prst="rect">
            <a:avLst/>
          </a:prstGeom>
          <a:noFill/>
        </p:spPr>
        <p:txBody>
          <a:bodyPr wrap="square" lIns="27432" rIns="27432" anchor="ctr">
            <a:spAutoFit/>
          </a:bodyPr>
          <a:lstStyle/>
          <a:p>
            <a:pPr algn="r"/>
            <a:r>
              <a:rPr sz="900" b="1">
                <a:solidFill>
                  <a:srgbClr val="ABBCC5"/>
                </a:solidFill>
                <a:latin typeface="Aptos"/>
              </a:rPr>
              <a:t>05</a:t>
            </a:r>
          </a:p>
        </p:txBody>
      </p:sp>
      <p:sp>
        <p:nvSpPr>
          <p:cNvPr id="4" name="Rectangle 3"/>
          <p:cNvSpPr/>
          <p:nvPr/>
        </p:nvSpPr>
        <p:spPr>
          <a:xfrm>
            <a:off x="502920" y="6510528"/>
            <a:ext cx="11155680" cy="13716"/>
          </a:xfrm>
          <a:prstGeom prst="rect">
            <a:avLst/>
          </a:prstGeom>
          <a:solidFill>
            <a:srgbClr val="283D4A"/>
          </a:solidFill>
          <a:ln>
            <a:solidFill>
              <a:srgbClr val="28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7772400" cy="548640"/>
          </a:xfrm>
          <a:prstGeom prst="rect">
            <a:avLst/>
          </a:prstGeom>
          <a:noFill/>
        </p:spPr>
        <p:txBody>
          <a:bodyPr wrap="square" lIns="27432" rIns="27432" anchor="ctr">
            <a:spAutoFit/>
          </a:bodyPr>
          <a:lstStyle/>
          <a:p>
            <a:pPr algn="l"/>
            <a:r>
              <a:rPr sz="2900" b="1">
                <a:solidFill>
                  <a:srgbClr val="F4F7F2"/>
                </a:solidFill>
                <a:latin typeface="Aptos"/>
              </a:rPr>
              <a:t>A question becomes a visible event.</a:t>
            </a:r>
          </a:p>
        </p:txBody>
      </p:sp>
      <p:pic>
        <p:nvPicPr>
          <p:cNvPr id="6" name="Picture 5" descr="sunflower-pacquito-colorado.jpg"/>
          <p:cNvPicPr>
            <a:picLocks noChangeAspect="1"/>
          </p:cNvPicPr>
          <p:nvPr/>
        </p:nvPicPr>
        <p:blipFill>
          <a:blip r:embed="rId2"/>
          <a:stretch>
            <a:fillRect/>
          </a:stretch>
        </p:blipFill>
        <p:spPr>
          <a:xfrm>
            <a:off x="731520" y="1828800"/>
            <a:ext cx="3886200" cy="3108960"/>
          </a:xfrm>
          <a:prstGeom prst="rect">
            <a:avLst/>
          </a:prstGeom>
        </p:spPr>
      </p:pic>
      <p:sp>
        <p:nvSpPr>
          <p:cNvPr id="7" name="Rounded Rectangle 6"/>
          <p:cNvSpPr/>
          <p:nvPr/>
        </p:nvSpPr>
        <p:spPr>
          <a:xfrm>
            <a:off x="5074920" y="1828800"/>
            <a:ext cx="6035040" cy="3108960"/>
          </a:xfrm>
          <a:prstGeom prst="roundRect">
            <a:avLst/>
          </a:prstGeom>
          <a:solidFill>
            <a:srgbClr val="122732"/>
          </a:solidFill>
          <a:ln>
            <a:solidFill>
              <a:srgbClr val="1227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0" y="2240280"/>
            <a:ext cx="1828800" cy="274320"/>
          </a:xfrm>
          <a:prstGeom prst="rect">
            <a:avLst/>
          </a:prstGeom>
          <a:noFill/>
        </p:spPr>
        <p:txBody>
          <a:bodyPr wrap="square" lIns="27432" rIns="27432" anchor="ctr">
            <a:spAutoFit/>
          </a:bodyPr>
          <a:lstStyle/>
          <a:p>
            <a:pPr algn="l"/>
            <a:r>
              <a:rPr sz="1200" b="1">
                <a:solidFill>
                  <a:srgbClr val="FF994F"/>
                </a:solidFill>
                <a:latin typeface="Aptos"/>
              </a:rPr>
              <a:t>TURN KNOB</a:t>
            </a:r>
          </a:p>
        </p:txBody>
      </p:sp>
      <p:sp>
        <p:nvSpPr>
          <p:cNvPr id="9" name="TextBox 8"/>
          <p:cNvSpPr txBox="1"/>
          <p:nvPr/>
        </p:nvSpPr>
        <p:spPr>
          <a:xfrm>
            <a:off x="5486400" y="2606040"/>
            <a:ext cx="4297680" cy="365760"/>
          </a:xfrm>
          <a:prstGeom prst="rect">
            <a:avLst/>
          </a:prstGeom>
          <a:noFill/>
        </p:spPr>
        <p:txBody>
          <a:bodyPr wrap="square" lIns="27432" rIns="27432" anchor="ctr">
            <a:spAutoFit/>
          </a:bodyPr>
          <a:lstStyle/>
          <a:p>
            <a:pPr algn="l"/>
            <a:r>
              <a:rPr sz="2000" b="1">
                <a:solidFill>
                  <a:srgbClr val="F4F7F2"/>
                </a:solidFill>
                <a:latin typeface="Aptos"/>
              </a:rPr>
              <a:t>Select the sunflower image</a:t>
            </a:r>
          </a:p>
        </p:txBody>
      </p:sp>
      <p:sp>
        <p:nvSpPr>
          <p:cNvPr id="10" name="TextBox 9"/>
          <p:cNvSpPr txBox="1"/>
          <p:nvPr/>
        </p:nvSpPr>
        <p:spPr>
          <a:xfrm>
            <a:off x="5486400" y="3246120"/>
            <a:ext cx="1828800" cy="274320"/>
          </a:xfrm>
          <a:prstGeom prst="rect">
            <a:avLst/>
          </a:prstGeom>
          <a:noFill/>
        </p:spPr>
        <p:txBody>
          <a:bodyPr wrap="square" lIns="27432" rIns="27432" anchor="ctr">
            <a:spAutoFit/>
          </a:bodyPr>
          <a:lstStyle/>
          <a:p>
            <a:pPr algn="l"/>
            <a:r>
              <a:rPr sz="1200" b="1">
                <a:solidFill>
                  <a:srgbClr val="47D3CA"/>
                </a:solidFill>
                <a:latin typeface="Aptos"/>
              </a:rPr>
              <a:t>TYPE QUESTION</a:t>
            </a:r>
          </a:p>
        </p:txBody>
      </p:sp>
      <p:sp>
        <p:nvSpPr>
          <p:cNvPr id="11" name="TextBox 10"/>
          <p:cNvSpPr txBox="1"/>
          <p:nvPr/>
        </p:nvSpPr>
        <p:spPr>
          <a:xfrm>
            <a:off x="5486400" y="3611880"/>
            <a:ext cx="4297680" cy="365760"/>
          </a:xfrm>
          <a:prstGeom prst="rect">
            <a:avLst/>
          </a:prstGeom>
          <a:noFill/>
        </p:spPr>
        <p:txBody>
          <a:bodyPr wrap="square" lIns="27432" rIns="27432" anchor="ctr">
            <a:spAutoFit/>
          </a:bodyPr>
          <a:lstStyle/>
          <a:p>
            <a:pPr algn="l"/>
            <a:r>
              <a:rPr sz="2000" b="1">
                <a:solidFill>
                  <a:srgbClr val="F4F7F2"/>
                </a:solidFill>
                <a:latin typeface="Aptos"/>
              </a:rPr>
              <a:t>What colors are visible?</a:t>
            </a:r>
          </a:p>
        </p:txBody>
      </p:sp>
      <p:sp>
        <p:nvSpPr>
          <p:cNvPr id="12" name="TextBox 11"/>
          <p:cNvSpPr txBox="1"/>
          <p:nvPr/>
        </p:nvSpPr>
        <p:spPr>
          <a:xfrm>
            <a:off x="5486400" y="4251960"/>
            <a:ext cx="1828800" cy="274320"/>
          </a:xfrm>
          <a:prstGeom prst="rect">
            <a:avLst/>
          </a:prstGeom>
          <a:noFill/>
        </p:spPr>
        <p:txBody>
          <a:bodyPr wrap="square" lIns="27432" rIns="27432" anchor="ctr">
            <a:spAutoFit/>
          </a:bodyPr>
          <a:lstStyle/>
          <a:p>
            <a:pPr algn="l"/>
            <a:r>
              <a:rPr sz="1200" b="1">
                <a:solidFill>
                  <a:srgbClr val="FF994F"/>
                </a:solidFill>
                <a:latin typeface="Aptos"/>
              </a:rPr>
              <a:t>PRESS A</a:t>
            </a:r>
          </a:p>
        </p:txBody>
      </p:sp>
      <p:sp>
        <p:nvSpPr>
          <p:cNvPr id="13" name="TextBox 12"/>
          <p:cNvSpPr txBox="1"/>
          <p:nvPr/>
        </p:nvSpPr>
        <p:spPr>
          <a:xfrm>
            <a:off x="5486400" y="4617720"/>
            <a:ext cx="4389120" cy="365760"/>
          </a:xfrm>
          <a:prstGeom prst="rect">
            <a:avLst/>
          </a:prstGeom>
          <a:noFill/>
        </p:spPr>
        <p:txBody>
          <a:bodyPr wrap="square" lIns="27432" rIns="27432" anchor="ctr">
            <a:spAutoFit/>
          </a:bodyPr>
          <a:lstStyle/>
          <a:p>
            <a:pPr algn="l"/>
            <a:r>
              <a:rPr sz="2000" b="1">
                <a:solidFill>
                  <a:srgbClr val="F4F7F2"/>
                </a:solidFill>
                <a:latin typeface="Aptos"/>
              </a:rPr>
              <a:t>Gemma answers from this image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1320"/>
        </a:solidFill>
        <a:effectLst/>
      </p:bgPr>
    </p:bg>
    <p:spTree>
      <p:nvGrpSpPr>
        <p:cNvPr id="1" name=""/>
        <p:cNvGrpSpPr/>
        <p:nvPr/>
      </p:nvGrpSpPr>
      <p:grpSpPr/>
      <p:sp>
        <p:nvSpPr>
          <p:cNvPr id="2" name="TextBox 1"/>
          <p:cNvSpPr txBox="1"/>
          <p:nvPr/>
        </p:nvSpPr>
        <p:spPr>
          <a:xfrm>
            <a:off x="502920" y="256032"/>
            <a:ext cx="5120640" cy="228600"/>
          </a:xfrm>
          <a:prstGeom prst="rect">
            <a:avLst/>
          </a:prstGeom>
          <a:noFill/>
        </p:spPr>
        <p:txBody>
          <a:bodyPr wrap="square" lIns="27432" rIns="27432" anchor="ctr">
            <a:spAutoFit/>
          </a:bodyPr>
          <a:lstStyle/>
          <a:p>
            <a:pPr algn="l"/>
            <a:r>
              <a:rPr sz="900" b="1">
                <a:solidFill>
                  <a:srgbClr val="47D3CA"/>
                </a:solidFill>
                <a:latin typeface="Aptos"/>
              </a:rPr>
              <a:t>WHY LOCAL</a:t>
            </a:r>
          </a:p>
        </p:txBody>
      </p:sp>
      <p:sp>
        <p:nvSpPr>
          <p:cNvPr id="3" name="TextBox 2"/>
          <p:cNvSpPr txBox="1"/>
          <p:nvPr/>
        </p:nvSpPr>
        <p:spPr>
          <a:xfrm>
            <a:off x="11292840" y="256032"/>
            <a:ext cx="502920" cy="228600"/>
          </a:xfrm>
          <a:prstGeom prst="rect">
            <a:avLst/>
          </a:prstGeom>
          <a:noFill/>
        </p:spPr>
        <p:txBody>
          <a:bodyPr wrap="square" lIns="27432" rIns="27432" anchor="ctr">
            <a:spAutoFit/>
          </a:bodyPr>
          <a:lstStyle/>
          <a:p>
            <a:pPr algn="r"/>
            <a:r>
              <a:rPr sz="900" b="1">
                <a:solidFill>
                  <a:srgbClr val="ABBCC5"/>
                </a:solidFill>
                <a:latin typeface="Aptos"/>
              </a:rPr>
              <a:t>06</a:t>
            </a:r>
          </a:p>
        </p:txBody>
      </p:sp>
      <p:sp>
        <p:nvSpPr>
          <p:cNvPr id="4" name="Rectangle 3"/>
          <p:cNvSpPr/>
          <p:nvPr/>
        </p:nvSpPr>
        <p:spPr>
          <a:xfrm>
            <a:off x="502920" y="6510528"/>
            <a:ext cx="11155680" cy="13716"/>
          </a:xfrm>
          <a:prstGeom prst="rect">
            <a:avLst/>
          </a:prstGeom>
          <a:solidFill>
            <a:srgbClr val="283D4A"/>
          </a:solidFill>
          <a:ln>
            <a:solidFill>
              <a:srgbClr val="28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6583680" cy="1051560"/>
          </a:xfrm>
          <a:prstGeom prst="rect">
            <a:avLst/>
          </a:prstGeom>
          <a:noFill/>
        </p:spPr>
        <p:txBody>
          <a:bodyPr wrap="square" lIns="27432" rIns="27432" anchor="ctr">
            <a:spAutoFit/>
          </a:bodyPr>
          <a:lstStyle/>
          <a:p>
            <a:pPr algn="l"/>
            <a:r>
              <a:rPr sz="3000" b="1">
                <a:solidFill>
                  <a:srgbClr val="F4F7F2"/>
                </a:solidFill>
                <a:latin typeface="Aptos"/>
              </a:rPr>
              <a:t>Private by default.
Responsive by design.</a:t>
            </a:r>
          </a:p>
        </p:txBody>
      </p:sp>
      <p:sp>
        <p:nvSpPr>
          <p:cNvPr id="6" name="Rounded Rectangle 5"/>
          <p:cNvSpPr/>
          <p:nvPr/>
        </p:nvSpPr>
        <p:spPr>
          <a:xfrm>
            <a:off x="777240" y="2514600"/>
            <a:ext cx="3063240" cy="2057400"/>
          </a:xfrm>
          <a:prstGeom prst="roundRect">
            <a:avLst/>
          </a:prstGeom>
          <a:solidFill>
            <a:srgbClr val="122732"/>
          </a:solidFill>
          <a:ln>
            <a:solidFill>
              <a:srgbClr val="1227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880360"/>
            <a:ext cx="2514600" cy="320040"/>
          </a:xfrm>
          <a:prstGeom prst="rect">
            <a:avLst/>
          </a:prstGeom>
          <a:noFill/>
        </p:spPr>
        <p:txBody>
          <a:bodyPr wrap="square" lIns="27432" rIns="27432" anchor="ctr">
            <a:spAutoFit/>
          </a:bodyPr>
          <a:lstStyle/>
          <a:p>
            <a:pPr algn="ctr"/>
            <a:r>
              <a:rPr sz="1400" b="1">
                <a:solidFill>
                  <a:srgbClr val="47D3CA"/>
                </a:solidFill>
                <a:latin typeface="Aptos"/>
              </a:rPr>
              <a:t>PRIVATE</a:t>
            </a:r>
          </a:p>
        </p:txBody>
      </p:sp>
      <p:sp>
        <p:nvSpPr>
          <p:cNvPr id="8" name="TextBox 7"/>
          <p:cNvSpPr txBox="1"/>
          <p:nvPr/>
        </p:nvSpPr>
        <p:spPr>
          <a:xfrm>
            <a:off x="1097280" y="3429000"/>
            <a:ext cx="2423160" cy="685800"/>
          </a:xfrm>
          <a:prstGeom prst="rect">
            <a:avLst/>
          </a:prstGeom>
          <a:noFill/>
        </p:spPr>
        <p:txBody>
          <a:bodyPr wrap="square" lIns="27432" rIns="27432" anchor="ctr">
            <a:spAutoFit/>
          </a:bodyPr>
          <a:lstStyle/>
          <a:p>
            <a:pPr algn="ctr"/>
            <a:r>
              <a:rPr sz="1900" b="1">
                <a:solidFill>
                  <a:srgbClr val="F4F7F2"/>
                </a:solidFill>
                <a:latin typeface="Aptos"/>
              </a:rPr>
              <a:t>Images remain on the
local machine.</a:t>
            </a:r>
          </a:p>
        </p:txBody>
      </p:sp>
      <p:sp>
        <p:nvSpPr>
          <p:cNvPr id="9" name="Rounded Rectangle 8"/>
          <p:cNvSpPr/>
          <p:nvPr/>
        </p:nvSpPr>
        <p:spPr>
          <a:xfrm>
            <a:off x="4480559" y="2514600"/>
            <a:ext cx="3063240" cy="2057400"/>
          </a:xfrm>
          <a:prstGeom prst="roundRect">
            <a:avLst/>
          </a:prstGeom>
          <a:solidFill>
            <a:srgbClr val="122732"/>
          </a:solidFill>
          <a:ln>
            <a:solidFill>
              <a:srgbClr val="1227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79" y="2880360"/>
            <a:ext cx="2514600" cy="320040"/>
          </a:xfrm>
          <a:prstGeom prst="rect">
            <a:avLst/>
          </a:prstGeom>
          <a:noFill/>
        </p:spPr>
        <p:txBody>
          <a:bodyPr wrap="square" lIns="27432" rIns="27432" anchor="ctr">
            <a:spAutoFit/>
          </a:bodyPr>
          <a:lstStyle/>
          <a:p>
            <a:pPr algn="ctr"/>
            <a:r>
              <a:rPr sz="1400" b="1">
                <a:solidFill>
                  <a:srgbClr val="FF994F"/>
                </a:solidFill>
                <a:latin typeface="Aptos"/>
              </a:rPr>
              <a:t>GROUNDED</a:t>
            </a:r>
          </a:p>
        </p:txBody>
      </p:sp>
      <p:sp>
        <p:nvSpPr>
          <p:cNvPr id="11" name="TextBox 10"/>
          <p:cNvSpPr txBox="1"/>
          <p:nvPr/>
        </p:nvSpPr>
        <p:spPr>
          <a:xfrm>
            <a:off x="4800599" y="3429000"/>
            <a:ext cx="2423160" cy="685800"/>
          </a:xfrm>
          <a:prstGeom prst="rect">
            <a:avLst/>
          </a:prstGeom>
          <a:noFill/>
        </p:spPr>
        <p:txBody>
          <a:bodyPr wrap="square" lIns="27432" rIns="27432" anchor="ctr">
            <a:spAutoFit/>
          </a:bodyPr>
          <a:lstStyle/>
          <a:p>
            <a:pPr algn="ctr"/>
            <a:r>
              <a:rPr sz="1900" b="1">
                <a:solidFill>
                  <a:srgbClr val="F4F7F2"/>
                </a:solidFill>
                <a:latin typeface="Aptos"/>
              </a:rPr>
              <a:t>The selected frame is
attached to each request.</a:t>
            </a:r>
          </a:p>
        </p:txBody>
      </p:sp>
      <p:sp>
        <p:nvSpPr>
          <p:cNvPr id="12" name="Rounded Rectangle 11"/>
          <p:cNvSpPr/>
          <p:nvPr/>
        </p:nvSpPr>
        <p:spPr>
          <a:xfrm>
            <a:off x="8183879" y="2514600"/>
            <a:ext cx="3063240" cy="2057400"/>
          </a:xfrm>
          <a:prstGeom prst="roundRect">
            <a:avLst/>
          </a:prstGeom>
          <a:solidFill>
            <a:srgbClr val="122732"/>
          </a:solidFill>
          <a:ln>
            <a:solidFill>
              <a:srgbClr val="1227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200" y="2880360"/>
            <a:ext cx="2514600" cy="320040"/>
          </a:xfrm>
          <a:prstGeom prst="rect">
            <a:avLst/>
          </a:prstGeom>
          <a:noFill/>
        </p:spPr>
        <p:txBody>
          <a:bodyPr wrap="square" lIns="27432" rIns="27432" anchor="ctr">
            <a:spAutoFit/>
          </a:bodyPr>
          <a:lstStyle/>
          <a:p>
            <a:pPr algn="ctr"/>
            <a:r>
              <a:rPr sz="1400" b="1">
                <a:solidFill>
                  <a:srgbClr val="47D3CA"/>
                </a:solidFill>
                <a:latin typeface="Aptos"/>
              </a:rPr>
              <a:t>TACTILE</a:t>
            </a:r>
          </a:p>
        </p:txBody>
      </p:sp>
      <p:sp>
        <p:nvSpPr>
          <p:cNvPr id="14" name="TextBox 13"/>
          <p:cNvSpPr txBox="1"/>
          <p:nvPr/>
        </p:nvSpPr>
        <p:spPr>
          <a:xfrm>
            <a:off x="8503919" y="3429000"/>
            <a:ext cx="2423160" cy="685800"/>
          </a:xfrm>
          <a:prstGeom prst="rect">
            <a:avLst/>
          </a:prstGeom>
          <a:noFill/>
        </p:spPr>
        <p:txBody>
          <a:bodyPr wrap="square" lIns="27432" rIns="27432" anchor="ctr">
            <a:spAutoFit/>
          </a:bodyPr>
          <a:lstStyle/>
          <a:p>
            <a:pPr algn="ctr"/>
            <a:r>
              <a:rPr sz="1900" b="1">
                <a:solidFill>
                  <a:srgbClr val="F4F7F2"/>
                </a:solidFill>
                <a:latin typeface="Aptos"/>
              </a:rPr>
              <a:t>The controller gives
feedback at a glance.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1320"/>
        </a:solidFill>
        <a:effectLst/>
      </p:bgPr>
    </p:bg>
    <p:spTree>
      <p:nvGrpSpPr>
        <p:cNvPr id="1" name=""/>
        <p:cNvGrpSpPr/>
        <p:nvPr/>
      </p:nvGrpSpPr>
      <p:grpSpPr/>
      <p:sp>
        <p:nvSpPr>
          <p:cNvPr id="2" name="TextBox 1"/>
          <p:cNvSpPr txBox="1"/>
          <p:nvPr/>
        </p:nvSpPr>
        <p:spPr>
          <a:xfrm>
            <a:off x="502920" y="256032"/>
            <a:ext cx="5120640" cy="228600"/>
          </a:xfrm>
          <a:prstGeom prst="rect">
            <a:avLst/>
          </a:prstGeom>
          <a:noFill/>
        </p:spPr>
        <p:txBody>
          <a:bodyPr wrap="square" lIns="27432" rIns="27432" anchor="ctr">
            <a:spAutoFit/>
          </a:bodyPr>
          <a:lstStyle/>
          <a:p>
            <a:pPr algn="l"/>
            <a:r>
              <a:rPr sz="900" b="1">
                <a:solidFill>
                  <a:srgbClr val="47D3CA"/>
                </a:solidFill>
                <a:latin typeface="Aptos"/>
              </a:rPr>
              <a:t>THE HARDWARE</a:t>
            </a:r>
          </a:p>
        </p:txBody>
      </p:sp>
      <p:sp>
        <p:nvSpPr>
          <p:cNvPr id="3" name="TextBox 2"/>
          <p:cNvSpPr txBox="1"/>
          <p:nvPr/>
        </p:nvSpPr>
        <p:spPr>
          <a:xfrm>
            <a:off x="11292840" y="256032"/>
            <a:ext cx="502920" cy="228600"/>
          </a:xfrm>
          <a:prstGeom prst="rect">
            <a:avLst/>
          </a:prstGeom>
          <a:noFill/>
        </p:spPr>
        <p:txBody>
          <a:bodyPr wrap="square" lIns="27432" rIns="27432" anchor="ctr">
            <a:spAutoFit/>
          </a:bodyPr>
          <a:lstStyle/>
          <a:p>
            <a:pPr algn="r"/>
            <a:r>
              <a:rPr sz="900" b="1">
                <a:solidFill>
                  <a:srgbClr val="ABBCC5"/>
                </a:solidFill>
                <a:latin typeface="Aptos"/>
              </a:rPr>
              <a:t>07</a:t>
            </a:r>
          </a:p>
        </p:txBody>
      </p:sp>
      <p:sp>
        <p:nvSpPr>
          <p:cNvPr id="4" name="Rectangle 3"/>
          <p:cNvSpPr/>
          <p:nvPr/>
        </p:nvSpPr>
        <p:spPr>
          <a:xfrm>
            <a:off x="502920" y="6510528"/>
            <a:ext cx="11155680" cy="13716"/>
          </a:xfrm>
          <a:prstGeom prst="rect">
            <a:avLst/>
          </a:prstGeom>
          <a:solidFill>
            <a:srgbClr val="283D4A"/>
          </a:solidFill>
          <a:ln>
            <a:solidFill>
              <a:srgbClr val="28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6583680" cy="548640"/>
          </a:xfrm>
          <a:prstGeom prst="rect">
            <a:avLst/>
          </a:prstGeom>
          <a:noFill/>
        </p:spPr>
        <p:txBody>
          <a:bodyPr wrap="square" lIns="27432" rIns="27432" anchor="ctr">
            <a:spAutoFit/>
          </a:bodyPr>
          <a:lstStyle/>
          <a:p>
            <a:pPr algn="l"/>
            <a:r>
              <a:rPr sz="3000" b="1">
                <a:solidFill>
                  <a:srgbClr val="F4F7F2"/>
                </a:solidFill>
                <a:latin typeface="Aptos"/>
              </a:rPr>
              <a:t>Small modules. Clear roles.</a:t>
            </a:r>
          </a:p>
        </p:txBody>
      </p:sp>
      <p:pic>
        <p:nvPicPr>
          <p:cNvPr id="6" name="Picture 5" descr="Moeraki-Boulders-New-Zealand.jpg"/>
          <p:cNvPicPr>
            <a:picLocks noChangeAspect="1"/>
          </p:cNvPicPr>
          <p:nvPr/>
        </p:nvPicPr>
        <p:blipFill>
          <a:blip r:embed="rId2"/>
          <a:stretch>
            <a:fillRect/>
          </a:stretch>
        </p:blipFill>
        <p:spPr>
          <a:xfrm>
            <a:off x="8046720" y="1234440"/>
            <a:ext cx="3200400" cy="4480560"/>
          </a:xfrm>
          <a:prstGeom prst="rect">
            <a:avLst/>
          </a:prstGeom>
        </p:spPr>
      </p:pic>
      <p:sp>
        <p:nvSpPr>
          <p:cNvPr id="7" name="Rectangle 6"/>
          <p:cNvSpPr/>
          <p:nvPr/>
        </p:nvSpPr>
        <p:spPr>
          <a:xfrm>
            <a:off x="822960" y="1828800"/>
            <a:ext cx="109728" cy="457200"/>
          </a:xfrm>
          <a:prstGeom prst="rect">
            <a:avLst/>
          </a:prstGeom>
          <a:solidFill>
            <a:srgbClr val="FF994F"/>
          </a:solidFill>
          <a:ln>
            <a:solidFill>
              <a:srgbClr val="FF99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1810512"/>
            <a:ext cx="1828800" cy="256032"/>
          </a:xfrm>
          <a:prstGeom prst="rect">
            <a:avLst/>
          </a:prstGeom>
          <a:noFill/>
        </p:spPr>
        <p:txBody>
          <a:bodyPr wrap="square" lIns="27432" rIns="27432" anchor="ctr">
            <a:spAutoFit/>
          </a:bodyPr>
          <a:lstStyle/>
          <a:p>
            <a:pPr algn="l"/>
            <a:r>
              <a:rPr sz="1300" b="1">
                <a:solidFill>
                  <a:srgbClr val="FF994F"/>
                </a:solidFill>
                <a:latin typeface="Aptos"/>
              </a:rPr>
              <a:t>KNOB</a:t>
            </a:r>
          </a:p>
        </p:txBody>
      </p:sp>
      <p:sp>
        <p:nvSpPr>
          <p:cNvPr id="9" name="TextBox 8"/>
          <p:cNvSpPr txBox="1"/>
          <p:nvPr/>
        </p:nvSpPr>
        <p:spPr>
          <a:xfrm>
            <a:off x="2971800" y="1810512"/>
            <a:ext cx="4251960" cy="292608"/>
          </a:xfrm>
          <a:prstGeom prst="rect">
            <a:avLst/>
          </a:prstGeom>
          <a:noFill/>
        </p:spPr>
        <p:txBody>
          <a:bodyPr wrap="square" lIns="27432" rIns="27432" anchor="ctr">
            <a:spAutoFit/>
          </a:bodyPr>
          <a:lstStyle/>
          <a:p>
            <a:pPr algn="l"/>
            <a:r>
              <a:rPr sz="1700" b="1">
                <a:solidFill>
                  <a:srgbClr val="F4F7F2"/>
                </a:solidFill>
                <a:latin typeface="Aptos"/>
              </a:rPr>
              <a:t>Select image</a:t>
            </a:r>
          </a:p>
        </p:txBody>
      </p:sp>
      <p:sp>
        <p:nvSpPr>
          <p:cNvPr id="10" name="Rectangle 9"/>
          <p:cNvSpPr/>
          <p:nvPr/>
        </p:nvSpPr>
        <p:spPr>
          <a:xfrm>
            <a:off x="822960" y="2670048"/>
            <a:ext cx="109728" cy="457200"/>
          </a:xfrm>
          <a:prstGeom prst="rect">
            <a:avLst/>
          </a:prstGeom>
          <a:solidFill>
            <a:srgbClr val="47D3CA"/>
          </a:solidFill>
          <a:ln>
            <a:solidFill>
              <a:srgbClr val="47D3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2651760"/>
            <a:ext cx="1828800" cy="256032"/>
          </a:xfrm>
          <a:prstGeom prst="rect">
            <a:avLst/>
          </a:prstGeom>
          <a:noFill/>
        </p:spPr>
        <p:txBody>
          <a:bodyPr wrap="square" lIns="27432" rIns="27432" anchor="ctr">
            <a:spAutoFit/>
          </a:bodyPr>
          <a:lstStyle/>
          <a:p>
            <a:pPr algn="l"/>
            <a:r>
              <a:rPr sz="1300" b="1">
                <a:solidFill>
                  <a:srgbClr val="47D3CA"/>
                </a:solidFill>
                <a:latin typeface="Aptos"/>
              </a:rPr>
              <a:t>BUTTON A</a:t>
            </a:r>
          </a:p>
        </p:txBody>
      </p:sp>
      <p:sp>
        <p:nvSpPr>
          <p:cNvPr id="12" name="TextBox 11"/>
          <p:cNvSpPr txBox="1"/>
          <p:nvPr/>
        </p:nvSpPr>
        <p:spPr>
          <a:xfrm>
            <a:off x="2971800" y="2651760"/>
            <a:ext cx="4251960" cy="292608"/>
          </a:xfrm>
          <a:prstGeom prst="rect">
            <a:avLst/>
          </a:prstGeom>
          <a:noFill/>
        </p:spPr>
        <p:txBody>
          <a:bodyPr wrap="square" lIns="27432" rIns="27432" anchor="ctr">
            <a:spAutoFit/>
          </a:bodyPr>
          <a:lstStyle/>
          <a:p>
            <a:pPr algn="l"/>
            <a:r>
              <a:rPr sz="1700" b="1">
                <a:solidFill>
                  <a:srgbClr val="F4F7F2"/>
                </a:solidFill>
                <a:latin typeface="Aptos"/>
              </a:rPr>
              <a:t>Submit question</a:t>
            </a:r>
          </a:p>
        </p:txBody>
      </p:sp>
      <p:sp>
        <p:nvSpPr>
          <p:cNvPr id="13" name="Rectangle 12"/>
          <p:cNvSpPr/>
          <p:nvPr/>
        </p:nvSpPr>
        <p:spPr>
          <a:xfrm>
            <a:off x="822960" y="3511296"/>
            <a:ext cx="109728" cy="457200"/>
          </a:xfrm>
          <a:prstGeom prst="rect">
            <a:avLst/>
          </a:prstGeom>
          <a:solidFill>
            <a:srgbClr val="FF994F"/>
          </a:solidFill>
          <a:ln>
            <a:solidFill>
              <a:srgbClr val="FF99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3493008"/>
            <a:ext cx="1828800" cy="256032"/>
          </a:xfrm>
          <a:prstGeom prst="rect">
            <a:avLst/>
          </a:prstGeom>
          <a:noFill/>
        </p:spPr>
        <p:txBody>
          <a:bodyPr wrap="square" lIns="27432" rIns="27432" anchor="ctr">
            <a:spAutoFit/>
          </a:bodyPr>
          <a:lstStyle/>
          <a:p>
            <a:pPr algn="l"/>
            <a:r>
              <a:rPr sz="1300" b="1">
                <a:solidFill>
                  <a:srgbClr val="FF994F"/>
                </a:solidFill>
                <a:latin typeface="Aptos"/>
              </a:rPr>
              <a:t>BUTTON B</a:t>
            </a:r>
          </a:p>
        </p:txBody>
      </p:sp>
      <p:sp>
        <p:nvSpPr>
          <p:cNvPr id="15" name="TextBox 14"/>
          <p:cNvSpPr txBox="1"/>
          <p:nvPr/>
        </p:nvSpPr>
        <p:spPr>
          <a:xfrm>
            <a:off x="2971800" y="3493008"/>
            <a:ext cx="4251960" cy="292608"/>
          </a:xfrm>
          <a:prstGeom prst="rect">
            <a:avLst/>
          </a:prstGeom>
          <a:noFill/>
        </p:spPr>
        <p:txBody>
          <a:bodyPr wrap="square" lIns="27432" rIns="27432" anchor="ctr">
            <a:spAutoFit/>
          </a:bodyPr>
          <a:lstStyle/>
          <a:p>
            <a:pPr algn="l"/>
            <a:r>
              <a:rPr sz="1700" b="1">
                <a:solidFill>
                  <a:srgbClr val="F4F7F2"/>
                </a:solidFill>
                <a:latin typeface="Aptos"/>
              </a:rPr>
              <a:t>Next image</a:t>
            </a:r>
          </a:p>
        </p:txBody>
      </p:sp>
      <p:sp>
        <p:nvSpPr>
          <p:cNvPr id="16" name="Rectangle 15"/>
          <p:cNvSpPr/>
          <p:nvPr/>
        </p:nvSpPr>
        <p:spPr>
          <a:xfrm>
            <a:off x="822960" y="4352544"/>
            <a:ext cx="109728" cy="457200"/>
          </a:xfrm>
          <a:prstGeom prst="rect">
            <a:avLst/>
          </a:prstGeom>
          <a:solidFill>
            <a:srgbClr val="47D3CA"/>
          </a:solidFill>
          <a:ln>
            <a:solidFill>
              <a:srgbClr val="47D3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4334256"/>
            <a:ext cx="1828800" cy="256032"/>
          </a:xfrm>
          <a:prstGeom prst="rect">
            <a:avLst/>
          </a:prstGeom>
          <a:noFill/>
        </p:spPr>
        <p:txBody>
          <a:bodyPr wrap="square" lIns="27432" rIns="27432" anchor="ctr">
            <a:spAutoFit/>
          </a:bodyPr>
          <a:lstStyle/>
          <a:p>
            <a:pPr algn="l"/>
            <a:r>
              <a:rPr sz="1300" b="1">
                <a:solidFill>
                  <a:srgbClr val="47D3CA"/>
                </a:solidFill>
                <a:latin typeface="Aptos"/>
              </a:rPr>
              <a:t>PIXELS</a:t>
            </a:r>
          </a:p>
        </p:txBody>
      </p:sp>
      <p:sp>
        <p:nvSpPr>
          <p:cNvPr id="18" name="TextBox 17"/>
          <p:cNvSpPr txBox="1"/>
          <p:nvPr/>
        </p:nvSpPr>
        <p:spPr>
          <a:xfrm>
            <a:off x="2971800" y="4334256"/>
            <a:ext cx="4251960" cy="292608"/>
          </a:xfrm>
          <a:prstGeom prst="rect">
            <a:avLst/>
          </a:prstGeom>
          <a:noFill/>
        </p:spPr>
        <p:txBody>
          <a:bodyPr wrap="square" lIns="27432" rIns="27432" anchor="ctr">
            <a:spAutoFit/>
          </a:bodyPr>
          <a:lstStyle/>
          <a:p>
            <a:pPr algn="l"/>
            <a:r>
              <a:rPr sz="1700" b="1">
                <a:solidFill>
                  <a:srgbClr val="F4F7F2"/>
                </a:solidFill>
                <a:latin typeface="Aptos"/>
              </a:rPr>
              <a:t>Ready / working / result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1320"/>
        </a:solidFill>
        <a:effectLst/>
      </p:bgPr>
    </p:bg>
    <p:spTree>
      <p:nvGrpSpPr>
        <p:cNvPr id="1" name=""/>
        <p:cNvGrpSpPr/>
        <p:nvPr/>
      </p:nvGrpSpPr>
      <p:grpSpPr/>
      <p:sp>
        <p:nvSpPr>
          <p:cNvPr id="2" name="TextBox 1"/>
          <p:cNvSpPr txBox="1"/>
          <p:nvPr/>
        </p:nvSpPr>
        <p:spPr>
          <a:xfrm>
            <a:off x="502920" y="256032"/>
            <a:ext cx="5120640" cy="228600"/>
          </a:xfrm>
          <a:prstGeom prst="rect">
            <a:avLst/>
          </a:prstGeom>
          <a:noFill/>
        </p:spPr>
        <p:txBody>
          <a:bodyPr wrap="square" lIns="27432" rIns="27432" anchor="ctr">
            <a:spAutoFit/>
          </a:bodyPr>
          <a:lstStyle/>
          <a:p>
            <a:pPr algn="l"/>
            <a:r>
              <a:rPr sz="900" b="1">
                <a:solidFill>
                  <a:srgbClr val="47D3CA"/>
                </a:solidFill>
                <a:latin typeface="Aptos"/>
              </a:rPr>
              <a:t>THE ASK</a:t>
            </a:r>
          </a:p>
        </p:txBody>
      </p:sp>
      <p:sp>
        <p:nvSpPr>
          <p:cNvPr id="3" name="TextBox 2"/>
          <p:cNvSpPr txBox="1"/>
          <p:nvPr/>
        </p:nvSpPr>
        <p:spPr>
          <a:xfrm>
            <a:off x="11292840" y="256032"/>
            <a:ext cx="502920" cy="228600"/>
          </a:xfrm>
          <a:prstGeom prst="rect">
            <a:avLst/>
          </a:prstGeom>
          <a:noFill/>
        </p:spPr>
        <p:txBody>
          <a:bodyPr wrap="square" lIns="27432" rIns="27432" anchor="ctr">
            <a:spAutoFit/>
          </a:bodyPr>
          <a:lstStyle/>
          <a:p>
            <a:pPr algn="r"/>
            <a:r>
              <a:rPr sz="900" b="1">
                <a:solidFill>
                  <a:srgbClr val="ABBCC5"/>
                </a:solidFill>
                <a:latin typeface="Aptos"/>
              </a:rPr>
              <a:t>08</a:t>
            </a:r>
          </a:p>
        </p:txBody>
      </p:sp>
      <p:sp>
        <p:nvSpPr>
          <p:cNvPr id="4" name="Rectangle 3"/>
          <p:cNvSpPr/>
          <p:nvPr/>
        </p:nvSpPr>
        <p:spPr>
          <a:xfrm>
            <a:off x="502920" y="6510528"/>
            <a:ext cx="11155680" cy="13716"/>
          </a:xfrm>
          <a:prstGeom prst="rect">
            <a:avLst/>
          </a:prstGeom>
          <a:solidFill>
            <a:srgbClr val="283D4A"/>
          </a:solidFill>
          <a:ln>
            <a:solidFill>
              <a:srgbClr val="28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0"/>
            <a:ext cx="7132320" cy="1234440"/>
          </a:xfrm>
          <a:prstGeom prst="rect">
            <a:avLst/>
          </a:prstGeom>
          <a:noFill/>
        </p:spPr>
        <p:txBody>
          <a:bodyPr wrap="square" lIns="27432" rIns="27432" anchor="ctr">
            <a:spAutoFit/>
          </a:bodyPr>
          <a:lstStyle/>
          <a:p>
            <a:pPr algn="l"/>
            <a:r>
              <a:rPr sz="3000" b="1">
                <a:solidFill>
                  <a:srgbClr val="F4F7F2"/>
                </a:solidFill>
                <a:latin typeface="Aptos"/>
              </a:rPr>
              <a:t>Make image understanding
feel as immediate as looking.</a:t>
            </a:r>
          </a:p>
        </p:txBody>
      </p:sp>
      <p:sp>
        <p:nvSpPr>
          <p:cNvPr id="6" name="Rounded Rectangle 5"/>
          <p:cNvSpPr/>
          <p:nvPr/>
        </p:nvSpPr>
        <p:spPr>
          <a:xfrm>
            <a:off x="685800" y="2834640"/>
            <a:ext cx="4800600" cy="1600200"/>
          </a:xfrm>
          <a:prstGeom prst="roundRect">
            <a:avLst/>
          </a:prstGeom>
          <a:solidFill>
            <a:srgbClr val="47D3CA"/>
          </a:solidFill>
          <a:ln>
            <a:solidFill>
              <a:srgbClr val="47D3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3136392"/>
            <a:ext cx="914400" cy="228600"/>
          </a:xfrm>
          <a:prstGeom prst="rect">
            <a:avLst/>
          </a:prstGeom>
          <a:noFill/>
        </p:spPr>
        <p:txBody>
          <a:bodyPr wrap="square" lIns="27432" rIns="27432" anchor="ctr">
            <a:spAutoFit/>
          </a:bodyPr>
          <a:lstStyle/>
          <a:p>
            <a:pPr algn="l"/>
            <a:r>
              <a:rPr sz="1200" b="1">
                <a:solidFill>
                  <a:srgbClr val="091320"/>
                </a:solidFill>
                <a:latin typeface="Aptos"/>
              </a:rPr>
              <a:t>NEXT</a:t>
            </a:r>
          </a:p>
        </p:txBody>
      </p:sp>
      <p:sp>
        <p:nvSpPr>
          <p:cNvPr id="8" name="TextBox 7"/>
          <p:cNvSpPr txBox="1"/>
          <p:nvPr/>
        </p:nvSpPr>
        <p:spPr>
          <a:xfrm>
            <a:off x="1051560" y="3520440"/>
            <a:ext cx="3566160" cy="594360"/>
          </a:xfrm>
          <a:prstGeom prst="rect">
            <a:avLst/>
          </a:prstGeom>
          <a:noFill/>
        </p:spPr>
        <p:txBody>
          <a:bodyPr wrap="square" lIns="27432" rIns="27432" anchor="ctr">
            <a:spAutoFit/>
          </a:bodyPr>
          <a:lstStyle/>
          <a:p>
            <a:pPr algn="l"/>
            <a:r>
              <a:rPr sz="2200" b="1">
                <a:solidFill>
                  <a:srgbClr val="091320"/>
                </a:solidFill>
                <a:latin typeface="Aptos"/>
              </a:rPr>
              <a:t>Button C + richer
physical feedback</a:t>
            </a:r>
          </a:p>
        </p:txBody>
      </p:sp>
      <p:sp>
        <p:nvSpPr>
          <p:cNvPr id="9" name="Rounded Rectangle 8"/>
          <p:cNvSpPr/>
          <p:nvPr/>
        </p:nvSpPr>
        <p:spPr>
          <a:xfrm>
            <a:off x="5989320" y="2834640"/>
            <a:ext cx="4800600" cy="1600200"/>
          </a:xfrm>
          <a:prstGeom prst="roundRect">
            <a:avLst/>
          </a:prstGeom>
          <a:solidFill>
            <a:srgbClr val="FF994F"/>
          </a:solidFill>
          <a:ln>
            <a:solidFill>
              <a:srgbClr val="FF99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136392"/>
            <a:ext cx="914400" cy="228600"/>
          </a:xfrm>
          <a:prstGeom prst="rect">
            <a:avLst/>
          </a:prstGeom>
          <a:noFill/>
        </p:spPr>
        <p:txBody>
          <a:bodyPr wrap="square" lIns="27432" rIns="27432" anchor="ctr">
            <a:spAutoFit/>
          </a:bodyPr>
          <a:lstStyle/>
          <a:p>
            <a:pPr algn="l"/>
            <a:r>
              <a:rPr sz="1200" b="1">
                <a:solidFill>
                  <a:srgbClr val="091320"/>
                </a:solidFill>
                <a:latin typeface="Aptos"/>
              </a:rPr>
              <a:t>NOW</a:t>
            </a:r>
          </a:p>
        </p:txBody>
      </p:sp>
      <p:sp>
        <p:nvSpPr>
          <p:cNvPr id="11" name="TextBox 10"/>
          <p:cNvSpPr txBox="1"/>
          <p:nvPr/>
        </p:nvSpPr>
        <p:spPr>
          <a:xfrm>
            <a:off x="6355080" y="3520440"/>
            <a:ext cx="3566160" cy="594360"/>
          </a:xfrm>
          <a:prstGeom prst="rect">
            <a:avLst/>
          </a:prstGeom>
          <a:noFill/>
        </p:spPr>
        <p:txBody>
          <a:bodyPr wrap="square" lIns="27432" rIns="27432" anchor="ctr">
            <a:spAutoFit/>
          </a:bodyPr>
          <a:lstStyle/>
          <a:p>
            <a:pPr algn="l"/>
            <a:r>
              <a:rPr sz="2200" b="1">
                <a:solidFill>
                  <a:srgbClr val="091320"/>
                </a:solidFill>
                <a:latin typeface="Aptos"/>
              </a:rPr>
              <a:t>Try the local
vision loop</a:t>
            </a:r>
          </a:p>
        </p:txBody>
      </p:sp>
      <p:sp>
        <p:nvSpPr>
          <p:cNvPr id="12" name="TextBox 11"/>
          <p:cNvSpPr txBox="1"/>
          <p:nvPr/>
        </p:nvSpPr>
        <p:spPr>
          <a:xfrm>
            <a:off x="685800" y="5650992"/>
            <a:ext cx="8046720" cy="274320"/>
          </a:xfrm>
          <a:prstGeom prst="rect">
            <a:avLst/>
          </a:prstGeom>
          <a:noFill/>
        </p:spPr>
        <p:txBody>
          <a:bodyPr wrap="square" lIns="27432" rIns="27432" anchor="ctr">
            <a:spAutoFit/>
          </a:bodyPr>
          <a:lstStyle/>
          <a:p>
            <a:pPr algn="l"/>
            <a:r>
              <a:rPr sz="1300" b="1">
                <a:solidFill>
                  <a:srgbClr val="ABBCC5"/>
                </a:solidFill>
                <a:latin typeface="Aptos"/>
              </a:rPr>
              <a:t>VisionKnob  |  Arduino UNO Q  |  Gemma  |  GenieX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